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Assignment: Introduction to the Study of the World's Religions. Replace the bracketed placeholder with your first and last name (and your partner's name if you worked with one). All content in Part 2 comes from Chapter 1, 'Beginning the Journey,' of Exploring the Religions of Our World (Ave Maria Press, 3rd 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asks for ONE particular similarity per pair. Each of the next four slides names the similarity, explains it, and gives concrete evidence on both sides of the pair.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pair 1: CHRISTIANITY and JUDAISM. The similarity: They share the same sacred scriptures and sacred history. Say the similarity in one sentence, then give one or two pieces of evidence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pair 2: CHRISTIANITY and ISLAM. The similarity: Both keep an annual season of fasting for spiritual renewal. Say the similarity in one sentence, then give one or two pieces of evidence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pair 3: CHRISTIANITY and HINDUISM. The similarity: Both treat rivers in nature as sacred places for pilgrimage. Say the similarity in one sentence, then give one or two pieces of evidence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 pair 4: CHRISTIANITY and BUDDHISM. The similarity: Both state their central beliefs in a clearly formulated doctrine. Say the similarity in one sentence, then give one or two pieces of evidence from the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covers four vocabulary terms, three reasons to study world religions, the case for interreligious dialogue, and the four common elements of religious traditions.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Religion: stress that the textbook says the term is elusive, then give the Latin root religare, 'to bind.' Ecumenism and evangelization are quoted from the textbook's own glossary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Evangelization: note the shift — traditionally aimed at conversion, today carried out by witnessing in dialogue. Myths: the key phrase is 'not true stories but truth stories.'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seven reasons the textbook lists. The others: to become more open to people who seem different, to gain insight into human beings, to understand the history of civilizations, and to understand today's cultures.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asks you to DEMONSTRATE why Christians should engage in interreligious dialogue — so give reasons, not just a definition. The strongest single line: interreligious dialogue is the duty of all Catholics because it is part of the Church's mission of evangelization.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 proof for question 3: papal example, everyday forms of dialogue, the low bar for participating, and the fact that this course is itself a dialogue.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 (a): myths are truth stories, not true stories; sacred history vs. empirical history. Element (b): vertical and horizontal, personal and communal practices, moral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Element (c): all time sacred, particular times marked; weekly days, annual fasts, festivals, rites of passage. Element (d): founder's places, nature, buildings, and temporary sacred spaces.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the chapter's own summary, plus the Peace Prayer that ends Chapter 1. Cite the textbook as your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326880" y="-1371600"/>
            <a:ext cx="4754880" cy="4754880"/>
          </a:xfrm>
          <a:prstGeom prst="ellipse">
            <a:avLst/>
          </a:prstGeom>
          <a:solidFill>
            <a:srgbClr val="141A44"/>
          </a:solidFill>
          <a:ln w="12700">
            <a:solidFill>
              <a:srgbClr val="141A44"/>
            </a:solidFill>
            <a:prstDash val="solid"/>
          </a:ln>
        </p:spPr>
      </p:sp>
      <p:sp>
        <p:nvSpPr>
          <p:cNvPr id="3" name="Shape 1"/>
          <p:cNvSpPr/>
          <p:nvPr/>
        </p:nvSpPr>
        <p:spPr>
          <a:xfrm>
            <a:off x="-1280160" y="4206240"/>
            <a:ext cx="3840480" cy="3840480"/>
          </a:xfrm>
          <a:prstGeom prst="ellipse">
            <a:avLst/>
          </a:prstGeom>
          <a:solidFill>
            <a:srgbClr val="141A44"/>
          </a:solidFill>
          <a:ln w="12700">
            <a:solidFill>
              <a:srgbClr val="141A44"/>
            </a:solidFill>
            <a:prstDash val="solid"/>
          </a:ln>
        </p:spPr>
      </p:sp>
      <p:sp>
        <p:nvSpPr>
          <p:cNvPr id="4" name="Shape 2"/>
          <p:cNvSpPr/>
          <p:nvPr/>
        </p:nvSpPr>
        <p:spPr>
          <a:xfrm>
            <a:off x="822960" y="868680"/>
            <a:ext cx="731520" cy="731520"/>
          </a:xfrm>
          <a:prstGeom prst="ellipse">
            <a:avLst/>
          </a:prstGeom>
          <a:solidFill>
            <a:srgbClr val="BF5637"/>
          </a:solidFill>
          <a:ln w="12700">
            <a:solidFill>
              <a:srgbClr val="BF5637"/>
            </a:solidFill>
            <a:prstDash val="solid"/>
          </a:ln>
        </p:spPr>
      </p:sp>
      <p:sp>
        <p:nvSpPr>
          <p:cNvPr id="5" name="Text 3"/>
          <p:cNvSpPr/>
          <p:nvPr/>
        </p:nvSpPr>
        <p:spPr>
          <a:xfrm>
            <a:off x="822960" y="86868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822960" y="1828800"/>
            <a:ext cx="8778240" cy="1737360"/>
          </a:xfrm>
          <a:prstGeom prst="rect">
            <a:avLst/>
          </a:prstGeom>
          <a:noFill/>
          <a:ln/>
        </p:spPr>
        <p:txBody>
          <a:bodyPr wrap="square" lIns="0" tIns="0" rIns="0" bIns="0" rtlCol="0" anchor="ctr"/>
          <a:lstStyle/>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Introduction to the Study</a:t>
            </a:r>
            <a:endParaRPr lang="en-US" sz="4400" dirty="0"/>
          </a:p>
          <a:p>
            <a:pPr indent="0" marL="0">
              <a:lnSpc>
                <a:spcPct val="105000"/>
              </a:lnSpc>
              <a:buNone/>
            </a:pPr>
            <a:r>
              <a:rPr lang="en-US" sz="4400" b="1" dirty="0">
                <a:solidFill>
                  <a:srgbClr val="FFFFFF"/>
                </a:solidFill>
                <a:latin typeface="Cambria" pitchFamily="34" charset="0"/>
                <a:ea typeface="Cambria" pitchFamily="34" charset="-122"/>
                <a:cs typeface="Cambria" pitchFamily="34" charset="-120"/>
              </a:rPr>
              <a:t>of the World's Religions</a:t>
            </a:r>
            <a:endParaRPr lang="en-US" sz="4400" dirty="0"/>
          </a:p>
        </p:txBody>
      </p:sp>
      <p:sp>
        <p:nvSpPr>
          <p:cNvPr id="7" name="Text 5"/>
          <p:cNvSpPr/>
          <p:nvPr/>
        </p:nvSpPr>
        <p:spPr>
          <a:xfrm>
            <a:off x="822960" y="3657600"/>
            <a:ext cx="8778240" cy="365760"/>
          </a:xfrm>
          <a:prstGeom prst="rect">
            <a:avLst/>
          </a:prstGeom>
          <a:noFill/>
          <a:ln/>
        </p:spPr>
        <p:txBody>
          <a:bodyPr wrap="square" lIns="0" tIns="0" rIns="0" bIns="0" rtlCol="0" anchor="ctr"/>
          <a:lstStyle/>
          <a:p>
            <a:pPr indent="0" marL="0">
              <a:buNone/>
            </a:pPr>
            <a:r>
              <a:rPr lang="en-US" sz="1500" i="1" dirty="0">
                <a:solidFill>
                  <a:srgbClr val="C7CDE4"/>
                </a:solidFill>
                <a:latin typeface="Calibri" pitchFamily="34" charset="0"/>
                <a:ea typeface="Calibri" pitchFamily="34" charset="-122"/>
                <a:cs typeface="Calibri" pitchFamily="34" charset="-120"/>
              </a:rPr>
              <a:t>Exploring the Religions of Our World  ·  Chapter 1: Beginning the Journey</a:t>
            </a:r>
            <a:endParaRPr lang="en-US" sz="1500" dirty="0"/>
          </a:p>
        </p:txBody>
      </p:sp>
      <p:sp>
        <p:nvSpPr>
          <p:cNvPr id="8" name="Text 6"/>
          <p:cNvSpPr/>
          <p:nvPr/>
        </p:nvSpPr>
        <p:spPr>
          <a:xfrm>
            <a:off x="822960" y="4663440"/>
            <a:ext cx="8778240" cy="9144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[Your First and Last Name]</a:t>
            </a:r>
            <a:endParaRPr lang="en-US" sz="2000" dirty="0"/>
          </a:p>
          <a:p>
            <a:pPr indent="0" marL="0">
              <a:buNone/>
            </a:pPr>
            <a:r>
              <a:rPr lang="en-US" sz="1300" i="1" dirty="0">
                <a:solidFill>
                  <a:srgbClr val="AFB7D4"/>
                </a:solidFill>
                <a:latin typeface="Calibri" pitchFamily="34" charset="0"/>
                <a:ea typeface="Calibri" pitchFamily="34" charset="-122"/>
                <a:cs typeface="Calibri" pitchFamily="34" charset="-120"/>
              </a:rPr>
              <a:t>[Partner's First and Last Name — if applicable]</a:t>
            </a:r>
            <a:endParaRPr lang="en-US" sz="2000" dirty="0"/>
          </a:p>
        </p:txBody>
      </p:sp>
      <p:sp>
        <p:nvSpPr>
          <p:cNvPr id="9" name="Text 7"/>
          <p:cNvSpPr/>
          <p:nvPr/>
        </p:nvSpPr>
        <p:spPr>
          <a:xfrm>
            <a:off x="822960" y="5715000"/>
            <a:ext cx="8778240" cy="320040"/>
          </a:xfrm>
          <a:prstGeom prst="rect">
            <a:avLst/>
          </a:prstGeom>
          <a:noFill/>
          <a:ln/>
        </p:spPr>
        <p:txBody>
          <a:bodyPr wrap="square" lIns="0" tIns="0" rIns="0" bIns="0" rtlCol="0" anchor="ctr"/>
          <a:lstStyle/>
          <a:p>
            <a:pPr indent="0" marL="0">
              <a:buNone/>
            </a:pPr>
            <a:r>
              <a:rPr lang="en-US" sz="1200" dirty="0">
                <a:solidFill>
                  <a:srgbClr val="C69A3E"/>
                </a:solidFill>
                <a:latin typeface="Calibri" pitchFamily="34" charset="0"/>
                <a:ea typeface="Calibri" pitchFamily="34" charset="-122"/>
                <a:cs typeface="Calibri" pitchFamily="34" charset="-120"/>
              </a:rPr>
              <a:t>World Religions  ·  Due Thursday, August 20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052560" y="3108960"/>
            <a:ext cx="5120640" cy="5120640"/>
          </a:xfrm>
          <a:prstGeom prst="ellipse">
            <a:avLst/>
          </a:prstGeom>
          <a:solidFill>
            <a:srgbClr val="141A44"/>
          </a:solidFill>
          <a:ln w="12700">
            <a:solidFill>
              <a:srgbClr val="141A44"/>
            </a:solidFill>
            <a:prstDash val="solid"/>
          </a:ln>
        </p:spPr>
      </p:sp>
      <p:sp>
        <p:nvSpPr>
          <p:cNvPr id="3" name="Text 1"/>
          <p:cNvSpPr/>
          <p:nvPr/>
        </p:nvSpPr>
        <p:spPr>
          <a:xfrm>
            <a:off x="914400" y="2057400"/>
            <a:ext cx="7863840" cy="365760"/>
          </a:xfrm>
          <a:prstGeom prst="rect">
            <a:avLst/>
          </a:prstGeom>
          <a:noFill/>
          <a:ln/>
        </p:spPr>
        <p:txBody>
          <a:bodyPr wrap="square" lIns="0" tIns="0" rIns="0" bIns="0" rtlCol="0" anchor="ctr"/>
          <a:lstStyle/>
          <a:p>
            <a:pPr indent="0" marL="0">
              <a:buNone/>
            </a:pPr>
            <a:r>
              <a:rPr lang="en-US" sz="1500" b="1" spc="400" kern="0" dirty="0">
                <a:solidFill>
                  <a:srgbClr val="C69A3E"/>
                </a:solidFill>
                <a:latin typeface="Calibri" pitchFamily="34" charset="0"/>
                <a:ea typeface="Calibri" pitchFamily="34" charset="-122"/>
                <a:cs typeface="Calibri" pitchFamily="34" charset="-120"/>
              </a:rPr>
              <a:t>PART ONE</a:t>
            </a:r>
            <a:endParaRPr lang="en-US" sz="1500" dirty="0"/>
          </a:p>
        </p:txBody>
      </p:sp>
      <p:sp>
        <p:nvSpPr>
          <p:cNvPr id="4" name="Text 2"/>
          <p:cNvSpPr/>
          <p:nvPr/>
        </p:nvSpPr>
        <p:spPr>
          <a:xfrm>
            <a:off x="914400" y="2514600"/>
            <a:ext cx="8412480" cy="91440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Similarities with Christianity</a:t>
            </a:r>
            <a:endParaRPr lang="en-US" sz="4000" dirty="0"/>
          </a:p>
        </p:txBody>
      </p:sp>
      <p:sp>
        <p:nvSpPr>
          <p:cNvPr id="5" name="Text 3"/>
          <p:cNvSpPr/>
          <p:nvPr/>
        </p:nvSpPr>
        <p:spPr>
          <a:xfrm>
            <a:off x="914400" y="3611880"/>
            <a:ext cx="7680960" cy="822960"/>
          </a:xfrm>
          <a:prstGeom prst="rect">
            <a:avLst/>
          </a:prstGeom>
          <a:noFill/>
          <a:ln/>
        </p:spPr>
        <p:txBody>
          <a:bodyPr wrap="square" lIns="0" tIns="0" rIns="0" bIns="0" rtlCol="0" anchor="ctr"/>
          <a:lstStyle/>
          <a:p>
            <a:pPr indent="0" marL="0">
              <a:buNone/>
            </a:pPr>
            <a:r>
              <a:rPr lang="en-US" sz="1500" dirty="0">
                <a:solidFill>
                  <a:srgbClr val="C7CDE4"/>
                </a:solidFill>
                <a:latin typeface="Calibri" pitchFamily="34" charset="0"/>
                <a:ea typeface="Calibri" pitchFamily="34" charset="-122"/>
                <a:cs typeface="Calibri" pitchFamily="34" charset="-120"/>
              </a:rPr>
              <a:t>One particular similarity between Christianity and each of four religious traditions — drawn from central beliefs and practices, sacred scripture, sacred time, and sacred places.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3520440" cy="5440680"/>
          </a:xfrm>
          <a:prstGeom prst="roundRect">
            <a:avLst>
              <a:gd name="adj" fmla="val 1299"/>
            </a:avLst>
          </a:prstGeom>
          <a:solidFill>
            <a:srgbClr val="1E2761"/>
          </a:solidFill>
          <a:ln w="12700">
            <a:solidFill>
              <a:srgbClr val="1E2761"/>
            </a:solidFill>
            <a:prstDash val="solid"/>
          </a:ln>
          <a:effectLst>
            <a:outerShdw sx="100000" sy="100000" kx="0" ky="0" algn="bl" rotWithShape="0" blurRad="127000" dist="25400" dir="5400000">
              <a:srgbClr val="9AA1B5">
                <a:alpha val="30000"/>
              </a:srgbClr>
            </a:outerShdw>
          </a:effectLst>
        </p:spPr>
      </p:sp>
      <p:sp>
        <p:nvSpPr>
          <p:cNvPr id="3" name="Shape 1"/>
          <p:cNvSpPr/>
          <p:nvPr/>
        </p:nvSpPr>
        <p:spPr>
          <a:xfrm>
            <a:off x="960120" y="960120"/>
            <a:ext cx="658368" cy="658368"/>
          </a:xfrm>
          <a:prstGeom prst="ellipse">
            <a:avLst/>
          </a:prstGeom>
          <a:solidFill>
            <a:srgbClr val="1C7293"/>
          </a:solidFill>
          <a:ln w="12700">
            <a:solidFill>
              <a:srgbClr val="1C7293"/>
            </a:solidFill>
            <a:prstDash val="solid"/>
          </a:ln>
        </p:spPr>
      </p:sp>
      <p:sp>
        <p:nvSpPr>
          <p:cNvPr id="4" name="Text 2"/>
          <p:cNvSpPr/>
          <p:nvPr/>
        </p:nvSpPr>
        <p:spPr>
          <a:xfrm>
            <a:off x="960120" y="9601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5" name="Text 3"/>
          <p:cNvSpPr/>
          <p:nvPr/>
        </p:nvSpPr>
        <p:spPr>
          <a:xfrm>
            <a:off x="960120" y="1965960"/>
            <a:ext cx="2743200" cy="1920240"/>
          </a:xfrm>
          <a:prstGeom prst="rect">
            <a:avLst/>
          </a:prstGeom>
          <a:noFill/>
          <a:ln/>
        </p:spPr>
        <p:txBody>
          <a:bodyPr wrap="square" lIns="0" tIns="0" rIns="0" bIns="0" rtlCol="0" anchor="ctr"/>
          <a:lstStyle/>
          <a:p>
            <a:pPr indent="0" marL="0">
              <a:lnSpc>
                <a:spcPct val="125000"/>
              </a:lnSpc>
              <a:buNone/>
            </a:pPr>
            <a:r>
              <a:rPr lang="en-US" sz="2200" b="1" dirty="0">
                <a:solidFill>
                  <a:srgbClr val="FFFFFF"/>
                </a:solidFill>
                <a:latin typeface="Cambria" pitchFamily="34" charset="0"/>
                <a:ea typeface="Cambria" pitchFamily="34" charset="-122"/>
                <a:cs typeface="Cambria" pitchFamily="34" charset="-120"/>
              </a:rPr>
              <a:t>CHRISTIANITY</a:t>
            </a:r>
            <a:endParaRPr lang="en-US" sz="2200" dirty="0"/>
          </a:p>
          <a:p>
            <a:pPr indent="0" marL="0">
              <a:lnSpc>
                <a:spcPct val="125000"/>
              </a:lnSpc>
              <a:buNone/>
            </a:pPr>
            <a:r>
              <a:rPr lang="en-US" sz="1500" i="1" dirty="0">
                <a:solidFill>
                  <a:srgbClr val="C69A3E"/>
                </a:solidFill>
                <a:latin typeface="Cambria" pitchFamily="34" charset="0"/>
                <a:ea typeface="Cambria" pitchFamily="34" charset="-122"/>
                <a:cs typeface="Cambria" pitchFamily="34" charset="-120"/>
              </a:rPr>
              <a:t>and</a:t>
            </a:r>
            <a:endParaRPr lang="en-US" sz="2200" dirty="0"/>
          </a:p>
          <a:p>
            <a:pPr indent="0" marL="0">
              <a:lnSpc>
                <a:spcPct val="125000"/>
              </a:lnSpc>
              <a:buNone/>
            </a:pPr>
            <a:r>
              <a:rPr lang="en-US" sz="2200" b="1" dirty="0">
                <a:solidFill>
                  <a:srgbClr val="FFFFFF"/>
                </a:solidFill>
                <a:latin typeface="Cambria" pitchFamily="34" charset="0"/>
                <a:ea typeface="Cambria" pitchFamily="34" charset="-122"/>
                <a:cs typeface="Cambria" pitchFamily="34" charset="-120"/>
              </a:rPr>
              <a:t>JUDAISM</a:t>
            </a:r>
            <a:endParaRPr lang="en-US" sz="2200" dirty="0"/>
          </a:p>
        </p:txBody>
      </p:sp>
      <p:sp>
        <p:nvSpPr>
          <p:cNvPr id="6" name="Text 4"/>
          <p:cNvSpPr/>
          <p:nvPr/>
        </p:nvSpPr>
        <p:spPr>
          <a:xfrm>
            <a:off x="960120" y="5074920"/>
            <a:ext cx="2743200" cy="320040"/>
          </a:xfrm>
          <a:prstGeom prst="rect">
            <a:avLst/>
          </a:prstGeom>
          <a:noFill/>
          <a:ln/>
        </p:spPr>
        <p:txBody>
          <a:bodyPr wrap="square" lIns="0" tIns="0" rIns="0" bIns="0" rtlCol="0" anchor="ctr"/>
          <a:lstStyle/>
          <a:p>
            <a:pPr indent="0" marL="0">
              <a:buNone/>
            </a:pPr>
            <a:r>
              <a:rPr lang="en-US" sz="1100" spc="150" kern="0" dirty="0">
                <a:solidFill>
                  <a:srgbClr val="AFB7D4"/>
                </a:solidFill>
                <a:latin typeface="Calibri" pitchFamily="34" charset="0"/>
                <a:ea typeface="Calibri" pitchFamily="34" charset="-122"/>
                <a:cs typeface="Calibri" pitchFamily="34" charset="-120"/>
              </a:rPr>
              <a:t>One particular similarity</a:t>
            </a:r>
            <a:endParaRPr lang="en-US" sz="1100" dirty="0"/>
          </a:p>
        </p:txBody>
      </p:sp>
      <p:sp>
        <p:nvSpPr>
          <p:cNvPr id="7" name="Text 5"/>
          <p:cNvSpPr/>
          <p:nvPr/>
        </p:nvSpPr>
        <p:spPr>
          <a:xfrm>
            <a:off x="4434840" y="658368"/>
            <a:ext cx="7178040" cy="960120"/>
          </a:xfrm>
          <a:prstGeom prst="rect">
            <a:avLst/>
          </a:prstGeom>
          <a:noFill/>
          <a:ln/>
        </p:spPr>
        <p:txBody>
          <a:bodyPr wrap="square" lIns="0" tIns="0" rIns="0" bIns="0" rtlCol="0" anchor="t"/>
          <a:lstStyle/>
          <a:p>
            <a:pPr indent="0" marL="0">
              <a:lnSpc>
                <a:spcPct val="100000"/>
              </a:lnSpc>
              <a:buNone/>
            </a:pPr>
            <a:r>
              <a:rPr lang="en-US" sz="2400" b="1" dirty="0">
                <a:solidFill>
                  <a:srgbClr val="1C7293"/>
                </a:solidFill>
                <a:latin typeface="Cambria" pitchFamily="34" charset="0"/>
                <a:ea typeface="Cambria" pitchFamily="34" charset="-122"/>
                <a:cs typeface="Cambria" pitchFamily="34" charset="-120"/>
              </a:rPr>
              <a:t>They share the same sacred scriptures and sacred history.</a:t>
            </a:r>
            <a:endParaRPr lang="en-US" sz="2400" dirty="0"/>
          </a:p>
        </p:txBody>
      </p:sp>
      <p:sp>
        <p:nvSpPr>
          <p:cNvPr id="8" name="Text 6"/>
          <p:cNvSpPr/>
          <p:nvPr/>
        </p:nvSpPr>
        <p:spPr>
          <a:xfrm>
            <a:off x="4434840" y="1755648"/>
            <a:ext cx="7178040" cy="1371600"/>
          </a:xfrm>
          <a:prstGeom prst="rect">
            <a:avLst/>
          </a:prstGeom>
          <a:noFill/>
          <a:ln/>
        </p:spPr>
        <p:txBody>
          <a:bodyPr wrap="square" lIns="0" tIns="0" rIns="0" bIns="0" rtlCol="0" anchor="t"/>
          <a:lstStyle/>
          <a:p>
            <a:pPr indent="0" marL="0">
              <a:lnSpc>
                <a:spcPct val="112000"/>
              </a:lnSpc>
              <a:buNone/>
            </a:pPr>
            <a:r>
              <a:rPr lang="en-US" sz="1450" dirty="0">
                <a:solidFill>
                  <a:srgbClr val="20242E"/>
                </a:solidFill>
                <a:latin typeface="Calibri" pitchFamily="34" charset="0"/>
                <a:ea typeface="Calibri" pitchFamily="34" charset="-122"/>
                <a:cs typeface="Calibri" pitchFamily="34" charset="-120"/>
              </a:rPr>
              <a:t>Christianity grew directly out of Judaism, so the two traditions hold the same set of sacred stories as their own. The Hebrew scriptures that Jews call the Tanakh are the same books Christians read as the Old Testament, and both worship the one God who acted in that history.</a:t>
            </a:r>
            <a:endParaRPr lang="en-US" sz="1450" dirty="0"/>
          </a:p>
        </p:txBody>
      </p:sp>
      <p:sp>
        <p:nvSpPr>
          <p:cNvPr id="9" name="Shape 7"/>
          <p:cNvSpPr/>
          <p:nvPr/>
        </p:nvSpPr>
        <p:spPr>
          <a:xfrm>
            <a:off x="4434840" y="3246120"/>
            <a:ext cx="7178040" cy="2743200"/>
          </a:xfrm>
          <a:prstGeom prst="roundRect">
            <a:avLst>
              <a:gd name="adj" fmla="val 200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0" name="Text 8"/>
          <p:cNvSpPr/>
          <p:nvPr/>
        </p:nvSpPr>
        <p:spPr>
          <a:xfrm>
            <a:off x="4709160" y="3429000"/>
            <a:ext cx="6675120" cy="274320"/>
          </a:xfrm>
          <a:prstGeom prst="rect">
            <a:avLst/>
          </a:prstGeom>
          <a:noFill/>
          <a:ln/>
        </p:spPr>
        <p:txBody>
          <a:bodyPr wrap="square" lIns="0" tIns="0" rIns="0" bIns="0" rtlCol="0" anchor="ctr"/>
          <a:lstStyle/>
          <a:p>
            <a:pPr indent="0" marL="0">
              <a:buNone/>
            </a:pPr>
            <a:r>
              <a:rPr lang="en-US" sz="1050" b="1" spc="100" kern="0" dirty="0">
                <a:solidFill>
                  <a:srgbClr val="5B6274"/>
                </a:solidFill>
                <a:latin typeface="Calibri" pitchFamily="34" charset="0"/>
                <a:ea typeface="Calibri" pitchFamily="34" charset="-122"/>
                <a:cs typeface="Calibri" pitchFamily="34" charset="-120"/>
              </a:rPr>
              <a:t>EVIDENCE FROM THE TEXTBOOK AND THE TRADITIONS</a:t>
            </a:r>
            <a:endParaRPr lang="en-US" sz="1050" dirty="0"/>
          </a:p>
        </p:txBody>
      </p:sp>
      <p:sp>
        <p:nvSpPr>
          <p:cNvPr id="11" name="Text 9"/>
          <p:cNvSpPr/>
          <p:nvPr/>
        </p:nvSpPr>
        <p:spPr>
          <a:xfrm>
            <a:off x="4709160" y="3730752"/>
            <a:ext cx="6675120" cy="210312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Chapter 1 notes that the story of the Jewish people includes creation stories plus the sacred history of the patriarchs and prophets — the very history Christians claim as their own.</a:t>
            </a:r>
            <a:endParaRPr lang="en-US" sz="1250" dirty="0"/>
          </a:p>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Both are monotheistic: the Sh'ma is Judaism's one formal doctrine, and the Apostles' Creed opens with belief in one God, the Father almighty.</a:t>
            </a:r>
            <a:endParaRPr lang="en-US" sz="1250" dirty="0"/>
          </a:p>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Both set aside a weekly day for communal worship — Saturday for Jews, Sunday for Christians.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3520440" cy="5440680"/>
          </a:xfrm>
          <a:prstGeom prst="roundRect">
            <a:avLst>
              <a:gd name="adj" fmla="val 1299"/>
            </a:avLst>
          </a:prstGeom>
          <a:solidFill>
            <a:srgbClr val="1E2761"/>
          </a:solidFill>
          <a:ln w="12700">
            <a:solidFill>
              <a:srgbClr val="1E2761"/>
            </a:solidFill>
            <a:prstDash val="solid"/>
          </a:ln>
          <a:effectLst>
            <a:outerShdw sx="100000" sy="100000" kx="0" ky="0" algn="bl" rotWithShape="0" blurRad="127000" dist="25400" dir="5400000">
              <a:srgbClr val="9AA1B5">
                <a:alpha val="30000"/>
              </a:srgbClr>
            </a:outerShdw>
          </a:effectLst>
        </p:spPr>
      </p:sp>
      <p:sp>
        <p:nvSpPr>
          <p:cNvPr id="3" name="Shape 1"/>
          <p:cNvSpPr/>
          <p:nvPr/>
        </p:nvSpPr>
        <p:spPr>
          <a:xfrm>
            <a:off x="960120" y="960120"/>
            <a:ext cx="658368" cy="658368"/>
          </a:xfrm>
          <a:prstGeom prst="ellipse">
            <a:avLst/>
          </a:prstGeom>
          <a:solidFill>
            <a:srgbClr val="BF5637"/>
          </a:solidFill>
          <a:ln w="12700">
            <a:solidFill>
              <a:srgbClr val="BF5637"/>
            </a:solidFill>
            <a:prstDash val="solid"/>
          </a:ln>
        </p:spPr>
      </p:sp>
      <p:sp>
        <p:nvSpPr>
          <p:cNvPr id="4" name="Text 2"/>
          <p:cNvSpPr/>
          <p:nvPr/>
        </p:nvSpPr>
        <p:spPr>
          <a:xfrm>
            <a:off x="960120" y="9601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5" name="Text 3"/>
          <p:cNvSpPr/>
          <p:nvPr/>
        </p:nvSpPr>
        <p:spPr>
          <a:xfrm>
            <a:off x="960120" y="1965960"/>
            <a:ext cx="2743200" cy="1920240"/>
          </a:xfrm>
          <a:prstGeom prst="rect">
            <a:avLst/>
          </a:prstGeom>
          <a:noFill/>
          <a:ln/>
        </p:spPr>
        <p:txBody>
          <a:bodyPr wrap="square" lIns="0" tIns="0" rIns="0" bIns="0" rtlCol="0" anchor="ctr"/>
          <a:lstStyle/>
          <a:p>
            <a:pPr indent="0" marL="0">
              <a:lnSpc>
                <a:spcPct val="125000"/>
              </a:lnSpc>
              <a:buNone/>
            </a:pPr>
            <a:r>
              <a:rPr lang="en-US" sz="2200" b="1" dirty="0">
                <a:solidFill>
                  <a:srgbClr val="FFFFFF"/>
                </a:solidFill>
                <a:latin typeface="Cambria" pitchFamily="34" charset="0"/>
                <a:ea typeface="Cambria" pitchFamily="34" charset="-122"/>
                <a:cs typeface="Cambria" pitchFamily="34" charset="-120"/>
              </a:rPr>
              <a:t>CHRISTIANITY</a:t>
            </a:r>
            <a:endParaRPr lang="en-US" sz="2200" dirty="0"/>
          </a:p>
          <a:p>
            <a:pPr indent="0" marL="0">
              <a:lnSpc>
                <a:spcPct val="125000"/>
              </a:lnSpc>
              <a:buNone/>
            </a:pPr>
            <a:r>
              <a:rPr lang="en-US" sz="1500" i="1" dirty="0">
                <a:solidFill>
                  <a:srgbClr val="C69A3E"/>
                </a:solidFill>
                <a:latin typeface="Cambria" pitchFamily="34" charset="0"/>
                <a:ea typeface="Cambria" pitchFamily="34" charset="-122"/>
                <a:cs typeface="Cambria" pitchFamily="34" charset="-120"/>
              </a:rPr>
              <a:t>and</a:t>
            </a:r>
            <a:endParaRPr lang="en-US" sz="2200" dirty="0"/>
          </a:p>
          <a:p>
            <a:pPr indent="0" marL="0">
              <a:lnSpc>
                <a:spcPct val="125000"/>
              </a:lnSpc>
              <a:buNone/>
            </a:pPr>
            <a:r>
              <a:rPr lang="en-US" sz="2200" b="1" dirty="0">
                <a:solidFill>
                  <a:srgbClr val="FFFFFF"/>
                </a:solidFill>
                <a:latin typeface="Cambria" pitchFamily="34" charset="0"/>
                <a:ea typeface="Cambria" pitchFamily="34" charset="-122"/>
                <a:cs typeface="Cambria" pitchFamily="34" charset="-120"/>
              </a:rPr>
              <a:t>ISLAM</a:t>
            </a:r>
            <a:endParaRPr lang="en-US" sz="2200" dirty="0"/>
          </a:p>
        </p:txBody>
      </p:sp>
      <p:sp>
        <p:nvSpPr>
          <p:cNvPr id="6" name="Text 4"/>
          <p:cNvSpPr/>
          <p:nvPr/>
        </p:nvSpPr>
        <p:spPr>
          <a:xfrm>
            <a:off x="960120" y="5074920"/>
            <a:ext cx="2743200" cy="320040"/>
          </a:xfrm>
          <a:prstGeom prst="rect">
            <a:avLst/>
          </a:prstGeom>
          <a:noFill/>
          <a:ln/>
        </p:spPr>
        <p:txBody>
          <a:bodyPr wrap="square" lIns="0" tIns="0" rIns="0" bIns="0" rtlCol="0" anchor="ctr"/>
          <a:lstStyle/>
          <a:p>
            <a:pPr indent="0" marL="0">
              <a:buNone/>
            </a:pPr>
            <a:r>
              <a:rPr lang="en-US" sz="1100" spc="150" kern="0" dirty="0">
                <a:solidFill>
                  <a:srgbClr val="AFB7D4"/>
                </a:solidFill>
                <a:latin typeface="Calibri" pitchFamily="34" charset="0"/>
                <a:ea typeface="Calibri" pitchFamily="34" charset="-122"/>
                <a:cs typeface="Calibri" pitchFamily="34" charset="-120"/>
              </a:rPr>
              <a:t>One particular similarity</a:t>
            </a:r>
            <a:endParaRPr lang="en-US" sz="1100" dirty="0"/>
          </a:p>
        </p:txBody>
      </p:sp>
      <p:sp>
        <p:nvSpPr>
          <p:cNvPr id="7" name="Text 5"/>
          <p:cNvSpPr/>
          <p:nvPr/>
        </p:nvSpPr>
        <p:spPr>
          <a:xfrm>
            <a:off x="4434840" y="658368"/>
            <a:ext cx="7178040" cy="960120"/>
          </a:xfrm>
          <a:prstGeom prst="rect">
            <a:avLst/>
          </a:prstGeom>
          <a:noFill/>
          <a:ln/>
        </p:spPr>
        <p:txBody>
          <a:bodyPr wrap="square" lIns="0" tIns="0" rIns="0" bIns="0" rtlCol="0" anchor="t"/>
          <a:lstStyle/>
          <a:p>
            <a:pPr indent="0" marL="0">
              <a:lnSpc>
                <a:spcPct val="100000"/>
              </a:lnSpc>
              <a:buNone/>
            </a:pPr>
            <a:r>
              <a:rPr lang="en-US" sz="2400" b="1" dirty="0">
                <a:solidFill>
                  <a:srgbClr val="BF5637"/>
                </a:solidFill>
                <a:latin typeface="Cambria" pitchFamily="34" charset="0"/>
                <a:ea typeface="Cambria" pitchFamily="34" charset="-122"/>
                <a:cs typeface="Cambria" pitchFamily="34" charset="-120"/>
              </a:rPr>
              <a:t>Both keep an annual season of fasting for spiritual renewal.</a:t>
            </a:r>
            <a:endParaRPr lang="en-US" sz="2400" dirty="0"/>
          </a:p>
        </p:txBody>
      </p:sp>
      <p:sp>
        <p:nvSpPr>
          <p:cNvPr id="8" name="Text 6"/>
          <p:cNvSpPr/>
          <p:nvPr/>
        </p:nvSpPr>
        <p:spPr>
          <a:xfrm>
            <a:off x="4434840" y="1755648"/>
            <a:ext cx="7178040" cy="1371600"/>
          </a:xfrm>
          <a:prstGeom prst="rect">
            <a:avLst/>
          </a:prstGeom>
          <a:noFill/>
          <a:ln/>
        </p:spPr>
        <p:txBody>
          <a:bodyPr wrap="square" lIns="0" tIns="0" rIns="0" bIns="0" rtlCol="0" anchor="t"/>
          <a:lstStyle/>
          <a:p>
            <a:pPr indent="0" marL="0">
              <a:lnSpc>
                <a:spcPct val="112000"/>
              </a:lnSpc>
              <a:buNone/>
            </a:pPr>
            <a:r>
              <a:rPr lang="en-US" sz="1450" dirty="0">
                <a:solidFill>
                  <a:srgbClr val="20242E"/>
                </a:solidFill>
                <a:latin typeface="Calibri" pitchFamily="34" charset="0"/>
                <a:ea typeface="Calibri" pitchFamily="34" charset="-122"/>
                <a:cs typeface="Calibri" pitchFamily="34" charset="-120"/>
              </a:rPr>
              <a:t>Chapter 1 lists Lent and Ramadan side by side as annual times of fasting for spiritual renewal and growth. In both traditions the fast is a sacred time: believers give up food and comforts for a set season in order to pray more, repent, give to the poor, and return to God with a renewed heart.</a:t>
            </a:r>
            <a:endParaRPr lang="en-US" sz="1450" dirty="0"/>
          </a:p>
        </p:txBody>
      </p:sp>
      <p:sp>
        <p:nvSpPr>
          <p:cNvPr id="9" name="Shape 7"/>
          <p:cNvSpPr/>
          <p:nvPr/>
        </p:nvSpPr>
        <p:spPr>
          <a:xfrm>
            <a:off x="4434840" y="3246120"/>
            <a:ext cx="7178040" cy="2743200"/>
          </a:xfrm>
          <a:prstGeom prst="roundRect">
            <a:avLst>
              <a:gd name="adj" fmla="val 200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0" name="Text 8"/>
          <p:cNvSpPr/>
          <p:nvPr/>
        </p:nvSpPr>
        <p:spPr>
          <a:xfrm>
            <a:off x="4709160" y="3429000"/>
            <a:ext cx="6675120" cy="274320"/>
          </a:xfrm>
          <a:prstGeom prst="rect">
            <a:avLst/>
          </a:prstGeom>
          <a:noFill/>
          <a:ln/>
        </p:spPr>
        <p:txBody>
          <a:bodyPr wrap="square" lIns="0" tIns="0" rIns="0" bIns="0" rtlCol="0" anchor="ctr"/>
          <a:lstStyle/>
          <a:p>
            <a:pPr indent="0" marL="0">
              <a:buNone/>
            </a:pPr>
            <a:r>
              <a:rPr lang="en-US" sz="1050" b="1" spc="100" kern="0" dirty="0">
                <a:solidFill>
                  <a:srgbClr val="5B6274"/>
                </a:solidFill>
                <a:latin typeface="Calibri" pitchFamily="34" charset="0"/>
                <a:ea typeface="Calibri" pitchFamily="34" charset="-122"/>
                <a:cs typeface="Calibri" pitchFamily="34" charset="-120"/>
              </a:rPr>
              <a:t>EVIDENCE FROM THE TEXTBOOK AND THE TRADITIONS</a:t>
            </a:r>
            <a:endParaRPr lang="en-US" sz="1050" dirty="0"/>
          </a:p>
        </p:txBody>
      </p:sp>
      <p:sp>
        <p:nvSpPr>
          <p:cNvPr id="11" name="Text 9"/>
          <p:cNvSpPr/>
          <p:nvPr/>
        </p:nvSpPr>
        <p:spPr>
          <a:xfrm>
            <a:off x="4709160" y="3730752"/>
            <a:ext cx="6675120" cy="210312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Christians fast and give alms through the forty days of Lent; Muslims fast from dawn to sunset for the month of Ramadan.</a:t>
            </a:r>
            <a:endParaRPr lang="en-US" sz="1250" dirty="0"/>
          </a:p>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Both are monotheistic traditions that trace their faith back to Abraham, and both hold a sacred scripture believed to come from God — the Bible and the Qur'an.</a:t>
            </a:r>
            <a:endParaRPr lang="en-US" sz="1250" dirty="0"/>
          </a:p>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Both honor Jesus, though differently: Christians profess him as Son of God and Savior, Muslims revere him as one of God's prophets.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3520440" cy="5440680"/>
          </a:xfrm>
          <a:prstGeom prst="roundRect">
            <a:avLst>
              <a:gd name="adj" fmla="val 1299"/>
            </a:avLst>
          </a:prstGeom>
          <a:solidFill>
            <a:srgbClr val="1E2761"/>
          </a:solidFill>
          <a:ln w="12700">
            <a:solidFill>
              <a:srgbClr val="1E2761"/>
            </a:solidFill>
            <a:prstDash val="solid"/>
          </a:ln>
          <a:effectLst>
            <a:outerShdw sx="100000" sy="100000" kx="0" ky="0" algn="bl" rotWithShape="0" blurRad="127000" dist="25400" dir="5400000">
              <a:srgbClr val="9AA1B5">
                <a:alpha val="30000"/>
              </a:srgbClr>
            </a:outerShdw>
          </a:effectLst>
        </p:spPr>
      </p:sp>
      <p:sp>
        <p:nvSpPr>
          <p:cNvPr id="3" name="Shape 1"/>
          <p:cNvSpPr/>
          <p:nvPr/>
        </p:nvSpPr>
        <p:spPr>
          <a:xfrm>
            <a:off x="960120" y="960120"/>
            <a:ext cx="658368" cy="658368"/>
          </a:xfrm>
          <a:prstGeom prst="ellipse">
            <a:avLst/>
          </a:prstGeom>
          <a:solidFill>
            <a:srgbClr val="C69A3E"/>
          </a:solidFill>
          <a:ln w="12700">
            <a:solidFill>
              <a:srgbClr val="C69A3E"/>
            </a:solidFill>
            <a:prstDash val="solid"/>
          </a:ln>
        </p:spPr>
      </p:sp>
      <p:sp>
        <p:nvSpPr>
          <p:cNvPr id="4" name="Text 2"/>
          <p:cNvSpPr/>
          <p:nvPr/>
        </p:nvSpPr>
        <p:spPr>
          <a:xfrm>
            <a:off x="960120" y="9601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5" name="Text 3"/>
          <p:cNvSpPr/>
          <p:nvPr/>
        </p:nvSpPr>
        <p:spPr>
          <a:xfrm>
            <a:off x="960120" y="1965960"/>
            <a:ext cx="2743200" cy="1920240"/>
          </a:xfrm>
          <a:prstGeom prst="rect">
            <a:avLst/>
          </a:prstGeom>
          <a:noFill/>
          <a:ln/>
        </p:spPr>
        <p:txBody>
          <a:bodyPr wrap="square" lIns="0" tIns="0" rIns="0" bIns="0" rtlCol="0" anchor="ctr"/>
          <a:lstStyle/>
          <a:p>
            <a:pPr indent="0" marL="0">
              <a:lnSpc>
                <a:spcPct val="125000"/>
              </a:lnSpc>
              <a:buNone/>
            </a:pPr>
            <a:r>
              <a:rPr lang="en-US" sz="2200" b="1" dirty="0">
                <a:solidFill>
                  <a:srgbClr val="FFFFFF"/>
                </a:solidFill>
                <a:latin typeface="Cambria" pitchFamily="34" charset="0"/>
                <a:ea typeface="Cambria" pitchFamily="34" charset="-122"/>
                <a:cs typeface="Cambria" pitchFamily="34" charset="-120"/>
              </a:rPr>
              <a:t>CHRISTIANITY</a:t>
            </a:r>
            <a:endParaRPr lang="en-US" sz="2200" dirty="0"/>
          </a:p>
          <a:p>
            <a:pPr indent="0" marL="0">
              <a:lnSpc>
                <a:spcPct val="125000"/>
              </a:lnSpc>
              <a:buNone/>
            </a:pPr>
            <a:r>
              <a:rPr lang="en-US" sz="1500" i="1" dirty="0">
                <a:solidFill>
                  <a:srgbClr val="C69A3E"/>
                </a:solidFill>
                <a:latin typeface="Cambria" pitchFamily="34" charset="0"/>
                <a:ea typeface="Cambria" pitchFamily="34" charset="-122"/>
                <a:cs typeface="Cambria" pitchFamily="34" charset="-120"/>
              </a:rPr>
              <a:t>and</a:t>
            </a:r>
            <a:endParaRPr lang="en-US" sz="2200" dirty="0"/>
          </a:p>
          <a:p>
            <a:pPr indent="0" marL="0">
              <a:lnSpc>
                <a:spcPct val="125000"/>
              </a:lnSpc>
              <a:buNone/>
            </a:pPr>
            <a:r>
              <a:rPr lang="en-US" sz="2200" b="1" dirty="0">
                <a:solidFill>
                  <a:srgbClr val="FFFFFF"/>
                </a:solidFill>
                <a:latin typeface="Cambria" pitchFamily="34" charset="0"/>
                <a:ea typeface="Cambria" pitchFamily="34" charset="-122"/>
                <a:cs typeface="Cambria" pitchFamily="34" charset="-120"/>
              </a:rPr>
              <a:t>HINDUISM</a:t>
            </a:r>
            <a:endParaRPr lang="en-US" sz="2200" dirty="0"/>
          </a:p>
        </p:txBody>
      </p:sp>
      <p:sp>
        <p:nvSpPr>
          <p:cNvPr id="6" name="Text 4"/>
          <p:cNvSpPr/>
          <p:nvPr/>
        </p:nvSpPr>
        <p:spPr>
          <a:xfrm>
            <a:off x="960120" y="5074920"/>
            <a:ext cx="2743200" cy="320040"/>
          </a:xfrm>
          <a:prstGeom prst="rect">
            <a:avLst/>
          </a:prstGeom>
          <a:noFill/>
          <a:ln/>
        </p:spPr>
        <p:txBody>
          <a:bodyPr wrap="square" lIns="0" tIns="0" rIns="0" bIns="0" rtlCol="0" anchor="ctr"/>
          <a:lstStyle/>
          <a:p>
            <a:pPr indent="0" marL="0">
              <a:buNone/>
            </a:pPr>
            <a:r>
              <a:rPr lang="en-US" sz="1100" spc="150" kern="0" dirty="0">
                <a:solidFill>
                  <a:srgbClr val="AFB7D4"/>
                </a:solidFill>
                <a:latin typeface="Calibri" pitchFamily="34" charset="0"/>
                <a:ea typeface="Calibri" pitchFamily="34" charset="-122"/>
                <a:cs typeface="Calibri" pitchFamily="34" charset="-120"/>
              </a:rPr>
              <a:t>One particular similarity</a:t>
            </a:r>
            <a:endParaRPr lang="en-US" sz="1100" dirty="0"/>
          </a:p>
        </p:txBody>
      </p:sp>
      <p:sp>
        <p:nvSpPr>
          <p:cNvPr id="7" name="Text 5"/>
          <p:cNvSpPr/>
          <p:nvPr/>
        </p:nvSpPr>
        <p:spPr>
          <a:xfrm>
            <a:off x="4434840" y="658368"/>
            <a:ext cx="7178040" cy="960120"/>
          </a:xfrm>
          <a:prstGeom prst="rect">
            <a:avLst/>
          </a:prstGeom>
          <a:noFill/>
          <a:ln/>
        </p:spPr>
        <p:txBody>
          <a:bodyPr wrap="square" lIns="0" tIns="0" rIns="0" bIns="0" rtlCol="0" anchor="t"/>
          <a:lstStyle/>
          <a:p>
            <a:pPr indent="0" marL="0">
              <a:lnSpc>
                <a:spcPct val="100000"/>
              </a:lnSpc>
              <a:buNone/>
            </a:pPr>
            <a:r>
              <a:rPr lang="en-US" sz="2400" b="1" dirty="0">
                <a:solidFill>
                  <a:srgbClr val="9A7420"/>
                </a:solidFill>
                <a:latin typeface="Cambria" pitchFamily="34" charset="0"/>
                <a:ea typeface="Cambria" pitchFamily="34" charset="-122"/>
                <a:cs typeface="Cambria" pitchFamily="34" charset="-120"/>
              </a:rPr>
              <a:t>Both treat rivers in nature as sacred places for pilgrimage.</a:t>
            </a:r>
            <a:endParaRPr lang="en-US" sz="2400" dirty="0"/>
          </a:p>
        </p:txBody>
      </p:sp>
      <p:sp>
        <p:nvSpPr>
          <p:cNvPr id="8" name="Text 6"/>
          <p:cNvSpPr/>
          <p:nvPr/>
        </p:nvSpPr>
        <p:spPr>
          <a:xfrm>
            <a:off x="4434840" y="1755648"/>
            <a:ext cx="7178040" cy="1371600"/>
          </a:xfrm>
          <a:prstGeom prst="rect">
            <a:avLst/>
          </a:prstGeom>
          <a:noFill/>
          <a:ln/>
        </p:spPr>
        <p:txBody>
          <a:bodyPr wrap="square" lIns="0" tIns="0" rIns="0" bIns="0" rtlCol="0" anchor="t"/>
          <a:lstStyle/>
          <a:p>
            <a:pPr indent="0" marL="0">
              <a:lnSpc>
                <a:spcPct val="112000"/>
              </a:lnSpc>
              <a:buNone/>
            </a:pPr>
            <a:r>
              <a:rPr lang="en-US" sz="1450" dirty="0">
                <a:solidFill>
                  <a:srgbClr val="20242E"/>
                </a:solidFill>
                <a:latin typeface="Calibri" pitchFamily="34" charset="0"/>
                <a:ea typeface="Calibri" pitchFamily="34" charset="-122"/>
                <a:cs typeface="Calibri" pitchFamily="34" charset="-120"/>
              </a:rPr>
              <a:t>Chapter 1 pairs these two traditions directly: "The Jordan River for Christians and the Ganges River for Hindus come to mind" as places in nature that a religious tradition calls sacred. In both traditions believers travel to the water and use it in ritual washing tied to purification and new life.</a:t>
            </a:r>
            <a:endParaRPr lang="en-US" sz="1450" dirty="0"/>
          </a:p>
        </p:txBody>
      </p:sp>
      <p:sp>
        <p:nvSpPr>
          <p:cNvPr id="9" name="Shape 7"/>
          <p:cNvSpPr/>
          <p:nvPr/>
        </p:nvSpPr>
        <p:spPr>
          <a:xfrm>
            <a:off x="4434840" y="3246120"/>
            <a:ext cx="7178040" cy="2743200"/>
          </a:xfrm>
          <a:prstGeom prst="roundRect">
            <a:avLst>
              <a:gd name="adj" fmla="val 200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0" name="Text 8"/>
          <p:cNvSpPr/>
          <p:nvPr/>
        </p:nvSpPr>
        <p:spPr>
          <a:xfrm>
            <a:off x="4709160" y="3429000"/>
            <a:ext cx="6675120" cy="274320"/>
          </a:xfrm>
          <a:prstGeom prst="rect">
            <a:avLst/>
          </a:prstGeom>
          <a:noFill/>
          <a:ln/>
        </p:spPr>
        <p:txBody>
          <a:bodyPr wrap="square" lIns="0" tIns="0" rIns="0" bIns="0" rtlCol="0" anchor="ctr"/>
          <a:lstStyle/>
          <a:p>
            <a:pPr indent="0" marL="0">
              <a:buNone/>
            </a:pPr>
            <a:r>
              <a:rPr lang="en-US" sz="1050" b="1" spc="100" kern="0" dirty="0">
                <a:solidFill>
                  <a:srgbClr val="5B6274"/>
                </a:solidFill>
                <a:latin typeface="Calibri" pitchFamily="34" charset="0"/>
                <a:ea typeface="Calibri" pitchFamily="34" charset="-122"/>
                <a:cs typeface="Calibri" pitchFamily="34" charset="-120"/>
              </a:rPr>
              <a:t>EVIDENCE FROM THE TEXTBOOK AND THE TRADITIONS</a:t>
            </a:r>
            <a:endParaRPr lang="en-US" sz="1050" dirty="0"/>
          </a:p>
        </p:txBody>
      </p:sp>
      <p:sp>
        <p:nvSpPr>
          <p:cNvPr id="11" name="Text 9"/>
          <p:cNvSpPr/>
          <p:nvPr/>
        </p:nvSpPr>
        <p:spPr>
          <a:xfrm>
            <a:off x="4709160" y="3730752"/>
            <a:ext cx="6675120" cy="210312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Christians revere the Jordan River as the place of Jesus' baptism; Hindu devotees bathe in the Ganges at pilgrimage sites such as the Kumbh Mela Festival to wash away sin.</a:t>
            </a:r>
            <a:endParaRPr lang="en-US" sz="1250" dirty="0"/>
          </a:p>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Both make pilgrimage a communal practice, and both build sacred spaces — churches for Christians, temples for Hindus.</a:t>
            </a:r>
            <a:endParaRPr lang="en-US" sz="1250" dirty="0"/>
          </a:p>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Both preserve their sacred stories in written sacred scripture: the Holy Bible, and the Upanishads and Bhagavad Gita.</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8640"/>
            <a:ext cx="3520440" cy="5440680"/>
          </a:xfrm>
          <a:prstGeom prst="roundRect">
            <a:avLst>
              <a:gd name="adj" fmla="val 1299"/>
            </a:avLst>
          </a:prstGeom>
          <a:solidFill>
            <a:srgbClr val="1E2761"/>
          </a:solidFill>
          <a:ln w="12700">
            <a:solidFill>
              <a:srgbClr val="1E2761"/>
            </a:solidFill>
            <a:prstDash val="solid"/>
          </a:ln>
          <a:effectLst>
            <a:outerShdw sx="100000" sy="100000" kx="0" ky="0" algn="bl" rotWithShape="0" blurRad="127000" dist="25400" dir="5400000">
              <a:srgbClr val="9AA1B5">
                <a:alpha val="30000"/>
              </a:srgbClr>
            </a:outerShdw>
          </a:effectLst>
        </p:spPr>
      </p:sp>
      <p:sp>
        <p:nvSpPr>
          <p:cNvPr id="3" name="Shape 1"/>
          <p:cNvSpPr/>
          <p:nvPr/>
        </p:nvSpPr>
        <p:spPr>
          <a:xfrm>
            <a:off x="960120" y="960120"/>
            <a:ext cx="658368" cy="658368"/>
          </a:xfrm>
          <a:prstGeom prst="ellipse">
            <a:avLst/>
          </a:prstGeom>
          <a:solidFill>
            <a:srgbClr val="6B4A9E"/>
          </a:solidFill>
          <a:ln w="12700">
            <a:solidFill>
              <a:srgbClr val="6B4A9E"/>
            </a:solidFill>
            <a:prstDash val="solid"/>
          </a:ln>
        </p:spPr>
      </p:sp>
      <p:sp>
        <p:nvSpPr>
          <p:cNvPr id="4" name="Text 2"/>
          <p:cNvSpPr/>
          <p:nvPr/>
        </p:nvSpPr>
        <p:spPr>
          <a:xfrm>
            <a:off x="960120" y="96012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5" name="Text 3"/>
          <p:cNvSpPr/>
          <p:nvPr/>
        </p:nvSpPr>
        <p:spPr>
          <a:xfrm>
            <a:off x="960120" y="1965960"/>
            <a:ext cx="2743200" cy="1920240"/>
          </a:xfrm>
          <a:prstGeom prst="rect">
            <a:avLst/>
          </a:prstGeom>
          <a:noFill/>
          <a:ln/>
        </p:spPr>
        <p:txBody>
          <a:bodyPr wrap="square" lIns="0" tIns="0" rIns="0" bIns="0" rtlCol="0" anchor="ctr"/>
          <a:lstStyle/>
          <a:p>
            <a:pPr indent="0" marL="0">
              <a:lnSpc>
                <a:spcPct val="125000"/>
              </a:lnSpc>
              <a:buNone/>
            </a:pPr>
            <a:r>
              <a:rPr lang="en-US" sz="2200" b="1" dirty="0">
                <a:solidFill>
                  <a:srgbClr val="FFFFFF"/>
                </a:solidFill>
                <a:latin typeface="Cambria" pitchFamily="34" charset="0"/>
                <a:ea typeface="Cambria" pitchFamily="34" charset="-122"/>
                <a:cs typeface="Cambria" pitchFamily="34" charset="-120"/>
              </a:rPr>
              <a:t>CHRISTIANITY</a:t>
            </a:r>
            <a:endParaRPr lang="en-US" sz="2200" dirty="0"/>
          </a:p>
          <a:p>
            <a:pPr indent="0" marL="0">
              <a:lnSpc>
                <a:spcPct val="125000"/>
              </a:lnSpc>
              <a:buNone/>
            </a:pPr>
            <a:r>
              <a:rPr lang="en-US" sz="1500" i="1" dirty="0">
                <a:solidFill>
                  <a:srgbClr val="C69A3E"/>
                </a:solidFill>
                <a:latin typeface="Cambria" pitchFamily="34" charset="0"/>
                <a:ea typeface="Cambria" pitchFamily="34" charset="-122"/>
                <a:cs typeface="Cambria" pitchFamily="34" charset="-120"/>
              </a:rPr>
              <a:t>and</a:t>
            </a:r>
            <a:endParaRPr lang="en-US" sz="2200" dirty="0"/>
          </a:p>
          <a:p>
            <a:pPr indent="0" marL="0">
              <a:lnSpc>
                <a:spcPct val="125000"/>
              </a:lnSpc>
              <a:buNone/>
            </a:pPr>
            <a:r>
              <a:rPr lang="en-US" sz="2200" b="1" dirty="0">
                <a:solidFill>
                  <a:srgbClr val="FFFFFF"/>
                </a:solidFill>
                <a:latin typeface="Cambria" pitchFamily="34" charset="0"/>
                <a:ea typeface="Cambria" pitchFamily="34" charset="-122"/>
                <a:cs typeface="Cambria" pitchFamily="34" charset="-120"/>
              </a:rPr>
              <a:t>BUDDHISM</a:t>
            </a:r>
            <a:endParaRPr lang="en-US" sz="2200" dirty="0"/>
          </a:p>
        </p:txBody>
      </p:sp>
      <p:sp>
        <p:nvSpPr>
          <p:cNvPr id="6" name="Text 4"/>
          <p:cNvSpPr/>
          <p:nvPr/>
        </p:nvSpPr>
        <p:spPr>
          <a:xfrm>
            <a:off x="960120" y="5074920"/>
            <a:ext cx="2743200" cy="320040"/>
          </a:xfrm>
          <a:prstGeom prst="rect">
            <a:avLst/>
          </a:prstGeom>
          <a:noFill/>
          <a:ln/>
        </p:spPr>
        <p:txBody>
          <a:bodyPr wrap="square" lIns="0" tIns="0" rIns="0" bIns="0" rtlCol="0" anchor="ctr"/>
          <a:lstStyle/>
          <a:p>
            <a:pPr indent="0" marL="0">
              <a:buNone/>
            </a:pPr>
            <a:r>
              <a:rPr lang="en-US" sz="1100" spc="150" kern="0" dirty="0">
                <a:solidFill>
                  <a:srgbClr val="AFB7D4"/>
                </a:solidFill>
                <a:latin typeface="Calibri" pitchFamily="34" charset="0"/>
                <a:ea typeface="Calibri" pitchFamily="34" charset="-122"/>
                <a:cs typeface="Calibri" pitchFamily="34" charset="-120"/>
              </a:rPr>
              <a:t>One particular similarity</a:t>
            </a:r>
            <a:endParaRPr lang="en-US" sz="1100" dirty="0"/>
          </a:p>
        </p:txBody>
      </p:sp>
      <p:sp>
        <p:nvSpPr>
          <p:cNvPr id="7" name="Text 5"/>
          <p:cNvSpPr/>
          <p:nvPr/>
        </p:nvSpPr>
        <p:spPr>
          <a:xfrm>
            <a:off x="4434840" y="658368"/>
            <a:ext cx="7178040" cy="960120"/>
          </a:xfrm>
          <a:prstGeom prst="rect">
            <a:avLst/>
          </a:prstGeom>
          <a:noFill/>
          <a:ln/>
        </p:spPr>
        <p:txBody>
          <a:bodyPr wrap="square" lIns="0" tIns="0" rIns="0" bIns="0" rtlCol="0" anchor="t"/>
          <a:lstStyle/>
          <a:p>
            <a:pPr indent="0" marL="0">
              <a:lnSpc>
                <a:spcPct val="100000"/>
              </a:lnSpc>
              <a:buNone/>
            </a:pPr>
            <a:r>
              <a:rPr lang="en-US" sz="2400" b="1" dirty="0">
                <a:solidFill>
                  <a:srgbClr val="6B4A9E"/>
                </a:solidFill>
                <a:latin typeface="Cambria" pitchFamily="34" charset="0"/>
                <a:ea typeface="Cambria" pitchFamily="34" charset="-122"/>
                <a:cs typeface="Cambria" pitchFamily="34" charset="-120"/>
              </a:rPr>
              <a:t>Both state their central beliefs in a clearly formulated doctrine.</a:t>
            </a:r>
            <a:endParaRPr lang="en-US" sz="2400" dirty="0"/>
          </a:p>
        </p:txBody>
      </p:sp>
      <p:sp>
        <p:nvSpPr>
          <p:cNvPr id="8" name="Text 6"/>
          <p:cNvSpPr/>
          <p:nvPr/>
        </p:nvSpPr>
        <p:spPr>
          <a:xfrm>
            <a:off x="4434840" y="1755648"/>
            <a:ext cx="7178040" cy="1371600"/>
          </a:xfrm>
          <a:prstGeom prst="rect">
            <a:avLst/>
          </a:prstGeom>
          <a:noFill/>
          <a:ln/>
        </p:spPr>
        <p:txBody>
          <a:bodyPr wrap="square" lIns="0" tIns="0" rIns="0" bIns="0" rtlCol="0" anchor="t"/>
          <a:lstStyle/>
          <a:p>
            <a:pPr indent="0" marL="0">
              <a:lnSpc>
                <a:spcPct val="112000"/>
              </a:lnSpc>
              <a:buNone/>
            </a:pPr>
            <a:r>
              <a:rPr lang="en-US" sz="1450" dirty="0">
                <a:solidFill>
                  <a:srgbClr val="20242E"/>
                </a:solidFill>
                <a:latin typeface="Calibri" pitchFamily="34" charset="0"/>
                <a:ea typeface="Calibri" pitchFamily="34" charset="-122"/>
                <a:cs typeface="Calibri" pitchFamily="34" charset="-120"/>
              </a:rPr>
              <a:t>Chapter 1 observes that "Buddhism and Christianity have well-formulated doctrines." Where many traditions communicate belief mainly through behavior, these two put their core truths into a fixed, teachable statement that every adherent can learn and repeat.</a:t>
            </a:r>
            <a:endParaRPr lang="en-US" sz="1450" dirty="0"/>
          </a:p>
        </p:txBody>
      </p:sp>
      <p:sp>
        <p:nvSpPr>
          <p:cNvPr id="9" name="Shape 7"/>
          <p:cNvSpPr/>
          <p:nvPr/>
        </p:nvSpPr>
        <p:spPr>
          <a:xfrm>
            <a:off x="4434840" y="3246120"/>
            <a:ext cx="7178040" cy="2743200"/>
          </a:xfrm>
          <a:prstGeom prst="roundRect">
            <a:avLst>
              <a:gd name="adj" fmla="val 200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0" name="Text 8"/>
          <p:cNvSpPr/>
          <p:nvPr/>
        </p:nvSpPr>
        <p:spPr>
          <a:xfrm>
            <a:off x="4709160" y="3429000"/>
            <a:ext cx="6675120" cy="274320"/>
          </a:xfrm>
          <a:prstGeom prst="rect">
            <a:avLst/>
          </a:prstGeom>
          <a:noFill/>
          <a:ln/>
        </p:spPr>
        <p:txBody>
          <a:bodyPr wrap="square" lIns="0" tIns="0" rIns="0" bIns="0" rtlCol="0" anchor="ctr"/>
          <a:lstStyle/>
          <a:p>
            <a:pPr indent="0" marL="0">
              <a:buNone/>
            </a:pPr>
            <a:r>
              <a:rPr lang="en-US" sz="1050" b="1" spc="100" kern="0" dirty="0">
                <a:solidFill>
                  <a:srgbClr val="5B6274"/>
                </a:solidFill>
                <a:latin typeface="Calibri" pitchFamily="34" charset="0"/>
                <a:ea typeface="Calibri" pitchFamily="34" charset="-122"/>
                <a:cs typeface="Calibri" pitchFamily="34" charset="-120"/>
              </a:rPr>
              <a:t>EVIDENCE FROM THE TEXTBOOK AND THE TRADITIONS</a:t>
            </a:r>
            <a:endParaRPr lang="en-US" sz="1050" dirty="0"/>
          </a:p>
        </p:txBody>
      </p:sp>
      <p:sp>
        <p:nvSpPr>
          <p:cNvPr id="11" name="Text 9"/>
          <p:cNvSpPr/>
          <p:nvPr/>
        </p:nvSpPr>
        <p:spPr>
          <a:xfrm>
            <a:off x="4709160" y="3730752"/>
            <a:ext cx="6675120" cy="2103120"/>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The Apostles' Creed is the formal statement of Christian beliefs; the Four Noble Truths and the Noble Eightfold Path are clearly delineated Buddhist doctrines.</a:t>
            </a:r>
            <a:endParaRPr lang="en-US" sz="1250" dirty="0"/>
          </a:p>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Both traditions grew from the life and teaching of a founding figure — Jesus of Nazareth and the Buddha.</a:t>
            </a:r>
            <a:endParaRPr lang="en-US" sz="1250" dirty="0"/>
          </a:p>
          <a:p>
            <a:pPr marL="342900" indent="-342900">
              <a:lnSpc>
                <a:spcPct val="106000"/>
              </a:lnSpc>
              <a:spcAft>
                <a:spcPts val="700"/>
              </a:spcAft>
              <a:buSzPct val="100000"/>
              <a:buChar char="•"/>
            </a:pPr>
            <a:r>
              <a:rPr lang="en-US" sz="1250" dirty="0">
                <a:solidFill>
                  <a:srgbClr val="20242E"/>
                </a:solidFill>
                <a:latin typeface="Calibri" pitchFamily="34" charset="0"/>
                <a:ea typeface="Calibri" pitchFamily="34" charset="-122"/>
                <a:cs typeface="Calibri" pitchFamily="34" charset="-120"/>
              </a:rPr>
              <a:t>Both mark that founder with a festival in sacred time: Christmas and Easter for Christians, Bodhi Day for Buddhists.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828800" y="-2011680"/>
            <a:ext cx="5486400" cy="5486400"/>
          </a:xfrm>
          <a:prstGeom prst="ellipse">
            <a:avLst/>
          </a:prstGeom>
          <a:solidFill>
            <a:srgbClr val="141A44"/>
          </a:solidFill>
          <a:ln w="12700">
            <a:solidFill>
              <a:srgbClr val="141A44"/>
            </a:solidFill>
            <a:prstDash val="solid"/>
          </a:ln>
        </p:spPr>
      </p:sp>
      <p:sp>
        <p:nvSpPr>
          <p:cNvPr id="3" name="Text 1"/>
          <p:cNvSpPr/>
          <p:nvPr/>
        </p:nvSpPr>
        <p:spPr>
          <a:xfrm>
            <a:off x="914400" y="2057400"/>
            <a:ext cx="7863840" cy="365760"/>
          </a:xfrm>
          <a:prstGeom prst="rect">
            <a:avLst/>
          </a:prstGeom>
          <a:noFill/>
          <a:ln/>
        </p:spPr>
        <p:txBody>
          <a:bodyPr wrap="square" lIns="0" tIns="0" rIns="0" bIns="0" rtlCol="0" anchor="ctr"/>
          <a:lstStyle/>
          <a:p>
            <a:pPr indent="0" marL="0">
              <a:buNone/>
            </a:pPr>
            <a:r>
              <a:rPr lang="en-US" sz="1500" b="1" spc="400" kern="0" dirty="0">
                <a:solidFill>
                  <a:srgbClr val="C69A3E"/>
                </a:solidFill>
                <a:latin typeface="Calibri" pitchFamily="34" charset="0"/>
                <a:ea typeface="Calibri" pitchFamily="34" charset="-122"/>
                <a:cs typeface="Calibri" pitchFamily="34" charset="-120"/>
              </a:rPr>
              <a:t>PART TWO</a:t>
            </a:r>
            <a:endParaRPr lang="en-US" sz="1500" dirty="0"/>
          </a:p>
        </p:txBody>
      </p:sp>
      <p:sp>
        <p:nvSpPr>
          <p:cNvPr id="4" name="Text 2"/>
          <p:cNvSpPr/>
          <p:nvPr/>
        </p:nvSpPr>
        <p:spPr>
          <a:xfrm>
            <a:off x="914400" y="2514600"/>
            <a:ext cx="8778240" cy="1371600"/>
          </a:xfrm>
          <a:prstGeom prst="rect">
            <a:avLst/>
          </a:prstGeom>
          <a:noFill/>
          <a:ln/>
        </p:spPr>
        <p:txBody>
          <a:bodyPr wrap="square" lIns="0" tIns="0" rIns="0" bIns="0" rtlCol="0" anchor="ctr"/>
          <a:lstStyle/>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Information about the Study</a:t>
            </a:r>
            <a:endParaRPr lang="en-US" sz="3800" dirty="0"/>
          </a:p>
          <a:p>
            <a:pPr indent="0" marL="0">
              <a:lnSpc>
                <a:spcPct val="105000"/>
              </a:lnSpc>
              <a:buNone/>
            </a:pPr>
            <a:r>
              <a:rPr lang="en-US" sz="3800" b="1" dirty="0">
                <a:solidFill>
                  <a:srgbClr val="FFFFFF"/>
                </a:solidFill>
                <a:latin typeface="Cambria" pitchFamily="34" charset="0"/>
                <a:ea typeface="Cambria" pitchFamily="34" charset="-122"/>
                <a:cs typeface="Cambria" pitchFamily="34" charset="-120"/>
              </a:rPr>
              <a:t>of World Religions</a:t>
            </a:r>
            <a:endParaRPr lang="en-US" sz="3800" dirty="0"/>
          </a:p>
        </p:txBody>
      </p:sp>
      <p:sp>
        <p:nvSpPr>
          <p:cNvPr id="5" name="Text 3"/>
          <p:cNvSpPr/>
          <p:nvPr/>
        </p:nvSpPr>
        <p:spPr>
          <a:xfrm>
            <a:off x="914400" y="4069080"/>
            <a:ext cx="7680960" cy="731520"/>
          </a:xfrm>
          <a:prstGeom prst="rect">
            <a:avLst/>
          </a:prstGeom>
          <a:noFill/>
          <a:ln/>
        </p:spPr>
        <p:txBody>
          <a:bodyPr wrap="square" lIns="0" tIns="0" rIns="0" bIns="0" rtlCol="0" anchor="ctr"/>
          <a:lstStyle/>
          <a:p>
            <a:pPr indent="0" marL="0">
              <a:buNone/>
            </a:pPr>
            <a:r>
              <a:rPr lang="en-US" sz="1500" i="1" dirty="0">
                <a:solidFill>
                  <a:srgbClr val="C7CDE4"/>
                </a:solidFill>
                <a:latin typeface="Calibri" pitchFamily="34" charset="0"/>
                <a:ea typeface="Calibri" pitchFamily="34" charset="-122"/>
                <a:cs typeface="Calibri" pitchFamily="34" charset="-120"/>
              </a:rPr>
              <a:t>All information in this section comes from Chapter 1, "Beginning the Journey," of Exploring the Religions of Our World (Ave Maria Press, Third Edition).</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65836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Key Terms Defined by the Textbook</a:t>
            </a:r>
            <a:endParaRPr lang="en-US" sz="2800" dirty="0"/>
          </a:p>
        </p:txBody>
      </p:sp>
      <p:sp>
        <p:nvSpPr>
          <p:cNvPr id="3" name="Text 1"/>
          <p:cNvSpPr/>
          <p:nvPr/>
        </p:nvSpPr>
        <p:spPr>
          <a:xfrm>
            <a:off x="640080" y="1042416"/>
            <a:ext cx="10972800" cy="310896"/>
          </a:xfrm>
          <a:prstGeom prst="rect">
            <a:avLst/>
          </a:prstGeom>
          <a:noFill/>
          <a:ln/>
        </p:spPr>
        <p:txBody>
          <a:bodyPr wrap="square" lIns="0" tIns="0" rIns="0" bIns="0" rtlCol="0" anchor="ctr"/>
          <a:lstStyle/>
          <a:p>
            <a:pPr indent="0" marL="0">
              <a:buNone/>
            </a:pPr>
            <a:r>
              <a:rPr lang="en-US" sz="1350" i="1" dirty="0">
                <a:solidFill>
                  <a:srgbClr val="5B6274"/>
                </a:solidFill>
                <a:latin typeface="Calibri" pitchFamily="34" charset="0"/>
                <a:ea typeface="Calibri" pitchFamily="34" charset="-122"/>
                <a:cs typeface="Calibri" pitchFamily="34" charset="-120"/>
              </a:rPr>
              <a:t>Part 2, Question 1 — as explained in Chapter 1</a:t>
            </a:r>
            <a:endParaRPr lang="en-US" sz="1350" dirty="0"/>
          </a:p>
        </p:txBody>
      </p:sp>
      <p:sp>
        <p:nvSpPr>
          <p:cNvPr id="4" name="Shape 2"/>
          <p:cNvSpPr/>
          <p:nvPr/>
        </p:nvSpPr>
        <p:spPr>
          <a:xfrm>
            <a:off x="548640" y="1600200"/>
            <a:ext cx="5440680" cy="4389120"/>
          </a:xfrm>
          <a:prstGeom prst="roundRect">
            <a:avLst>
              <a:gd name="adj" fmla="val 125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5" name="Shape 3"/>
          <p:cNvSpPr/>
          <p:nvPr/>
        </p:nvSpPr>
        <p:spPr>
          <a:xfrm>
            <a:off x="868680" y="1874520"/>
            <a:ext cx="566928" cy="566928"/>
          </a:xfrm>
          <a:prstGeom prst="ellipse">
            <a:avLst/>
          </a:prstGeom>
          <a:solidFill>
            <a:srgbClr val="BF5637"/>
          </a:solidFill>
          <a:ln w="12700">
            <a:solidFill>
              <a:srgbClr val="BF5637"/>
            </a:solidFill>
            <a:prstDash val="solid"/>
          </a:ln>
        </p:spPr>
      </p:sp>
      <p:sp>
        <p:nvSpPr>
          <p:cNvPr id="6" name="Text 4"/>
          <p:cNvSpPr/>
          <p:nvPr/>
        </p:nvSpPr>
        <p:spPr>
          <a:xfrm>
            <a:off x="868680" y="18745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7" name="Text 5"/>
          <p:cNvSpPr/>
          <p:nvPr/>
        </p:nvSpPr>
        <p:spPr>
          <a:xfrm>
            <a:off x="1554480" y="1874520"/>
            <a:ext cx="4114800" cy="566928"/>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Religion</a:t>
            </a:r>
            <a:endParaRPr lang="en-US" sz="2500" dirty="0"/>
          </a:p>
        </p:txBody>
      </p:sp>
      <p:sp>
        <p:nvSpPr>
          <p:cNvPr id="8" name="Text 6"/>
          <p:cNvSpPr/>
          <p:nvPr/>
        </p:nvSpPr>
        <p:spPr>
          <a:xfrm>
            <a:off x="868680" y="2578608"/>
            <a:ext cx="4800600" cy="292608"/>
          </a:xfrm>
          <a:prstGeom prst="rect">
            <a:avLst/>
          </a:prstGeom>
          <a:noFill/>
          <a:ln/>
        </p:spPr>
        <p:txBody>
          <a:bodyPr wrap="square" lIns="0" tIns="0" rIns="0" bIns="0" rtlCol="0" anchor="ctr"/>
          <a:lstStyle/>
          <a:p>
            <a:pPr indent="0" marL="0">
              <a:buNone/>
            </a:pPr>
            <a:r>
              <a:rPr lang="en-US" sz="1200" b="1" i="1" dirty="0">
                <a:solidFill>
                  <a:srgbClr val="BF5637"/>
                </a:solidFill>
                <a:latin typeface="Calibri" pitchFamily="34" charset="0"/>
                <a:ea typeface="Calibri" pitchFamily="34" charset="-122"/>
                <a:cs typeface="Calibri" pitchFamily="34" charset="-120"/>
              </a:rPr>
              <a:t>The textbook calls a definition of religion "elusive."</a:t>
            </a:r>
            <a:endParaRPr lang="en-US" sz="1200" dirty="0"/>
          </a:p>
        </p:txBody>
      </p:sp>
      <p:sp>
        <p:nvSpPr>
          <p:cNvPr id="9" name="Text 7"/>
          <p:cNvSpPr/>
          <p:nvPr/>
        </p:nvSpPr>
        <p:spPr>
          <a:xfrm>
            <a:off x="868680" y="2926080"/>
            <a:ext cx="4800600" cy="2834640"/>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The word comes from the Latin religare, meaning "to bind." Under the name of religion, a person or community "bound" itself to something worthy of reverence and respect, and certain obligations came with those strong ties to an entity over and beyond them.</a:t>
            </a:r>
            <a:endParaRPr lang="en-US" sz="1200" dirty="0"/>
          </a:p>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Most scriptures, including the Bible, never use the word. Until modern times religion was not separated from the rest of life — birth and death, work and play, relationships, and nature were all wrapped up in it.</a:t>
            </a:r>
            <a:endParaRPr lang="en-US" sz="1200" dirty="0"/>
          </a:p>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Religion is not just "worshipping God," "living a moral life," or "one's belief system." It is not any one of those things, because the spectrum of religious expression is vast.</a:t>
            </a:r>
            <a:endParaRPr lang="en-US" sz="1200" dirty="0"/>
          </a:p>
        </p:txBody>
      </p:sp>
      <p:sp>
        <p:nvSpPr>
          <p:cNvPr id="10" name="Shape 8"/>
          <p:cNvSpPr/>
          <p:nvPr/>
        </p:nvSpPr>
        <p:spPr>
          <a:xfrm>
            <a:off x="6172200" y="1600200"/>
            <a:ext cx="5440680" cy="4389120"/>
          </a:xfrm>
          <a:prstGeom prst="roundRect">
            <a:avLst>
              <a:gd name="adj" fmla="val 125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1" name="Shape 9"/>
          <p:cNvSpPr/>
          <p:nvPr/>
        </p:nvSpPr>
        <p:spPr>
          <a:xfrm>
            <a:off x="6492240" y="1874520"/>
            <a:ext cx="566928" cy="566928"/>
          </a:xfrm>
          <a:prstGeom prst="ellipse">
            <a:avLst/>
          </a:prstGeom>
          <a:solidFill>
            <a:srgbClr val="1C7293"/>
          </a:solidFill>
          <a:ln w="12700">
            <a:solidFill>
              <a:srgbClr val="1C7293"/>
            </a:solidFill>
            <a:prstDash val="solid"/>
          </a:ln>
        </p:spPr>
      </p:sp>
      <p:sp>
        <p:nvSpPr>
          <p:cNvPr id="12" name="Text 10"/>
          <p:cNvSpPr/>
          <p:nvPr/>
        </p:nvSpPr>
        <p:spPr>
          <a:xfrm>
            <a:off x="6492240" y="18745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3" name="Text 11"/>
          <p:cNvSpPr/>
          <p:nvPr/>
        </p:nvSpPr>
        <p:spPr>
          <a:xfrm>
            <a:off x="7178040" y="1874520"/>
            <a:ext cx="4114800" cy="566928"/>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Ecumenism</a:t>
            </a:r>
            <a:endParaRPr lang="en-US" sz="2500" dirty="0"/>
          </a:p>
        </p:txBody>
      </p:sp>
      <p:sp>
        <p:nvSpPr>
          <p:cNvPr id="14" name="Text 12"/>
          <p:cNvSpPr/>
          <p:nvPr/>
        </p:nvSpPr>
        <p:spPr>
          <a:xfrm>
            <a:off x="6492240" y="2578608"/>
            <a:ext cx="4800600" cy="292608"/>
          </a:xfrm>
          <a:prstGeom prst="rect">
            <a:avLst/>
          </a:prstGeom>
          <a:noFill/>
          <a:ln/>
        </p:spPr>
        <p:txBody>
          <a:bodyPr wrap="square" lIns="0" tIns="0" rIns="0" bIns="0" rtlCol="0" anchor="ctr"/>
          <a:lstStyle/>
          <a:p>
            <a:pPr indent="0" marL="0">
              <a:buNone/>
            </a:pPr>
            <a:r>
              <a:rPr lang="en-US" sz="1200" b="1" i="1" dirty="0">
                <a:solidFill>
                  <a:srgbClr val="1C7293"/>
                </a:solidFill>
                <a:latin typeface="Calibri" pitchFamily="34" charset="0"/>
                <a:ea typeface="Calibri" pitchFamily="34" charset="-122"/>
                <a:cs typeface="Calibri" pitchFamily="34" charset="-120"/>
              </a:rPr>
              <a:t>Textbook definition, word for word:</a:t>
            </a:r>
            <a:endParaRPr lang="en-US" sz="1200" dirty="0"/>
          </a:p>
        </p:txBody>
      </p:sp>
      <p:sp>
        <p:nvSpPr>
          <p:cNvPr id="15" name="Text 13"/>
          <p:cNvSpPr/>
          <p:nvPr/>
        </p:nvSpPr>
        <p:spPr>
          <a:xfrm>
            <a:off x="6492240" y="2926080"/>
            <a:ext cx="4800600" cy="2834640"/>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"The movement, inspired and led by the Holy Spirit, that seeks the union of all Christian faiths and eventually the unity of all peoples throughout the world."</a:t>
            </a:r>
            <a:endParaRPr lang="en-US" sz="1200" dirty="0"/>
          </a:p>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In practice: Pope John XXIII called Protestants "separated brethren" rather than "heretics," and Pope Paul VI met Ecumenical Patriarch Athenagoras I to regret the mutual excommunication of 1054.</a:t>
            </a:r>
            <a:endParaRPr lang="en-US" sz="1200" dirty="0"/>
          </a:p>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The Second Vatican Council's Unitatis Redintegratio is the Decree on Ecumenism, addressing the Catholic Church's relationship with other Christians.</a:t>
            </a:r>
            <a:endParaRPr lang="en-US" sz="1200" dirty="0"/>
          </a:p>
        </p:txBody>
      </p:sp>
      <p:sp>
        <p:nvSpPr>
          <p:cNvPr id="16" name="Text 14"/>
          <p:cNvSpPr/>
          <p:nvPr/>
        </p:nvSpPr>
        <p:spPr>
          <a:xfrm>
            <a:off x="640080" y="6327648"/>
            <a:ext cx="10881360" cy="274320"/>
          </a:xfrm>
          <a:prstGeom prst="rect">
            <a:avLst/>
          </a:prstGeom>
          <a:noFill/>
          <a:ln/>
        </p:spPr>
        <p:txBody>
          <a:bodyPr wrap="square" lIns="0" tIns="0" rIns="0" bIns="0" rtlCol="0" anchor="ctr"/>
          <a:lstStyle/>
          <a:p>
            <a:pPr indent="0" marL="0">
              <a:buNone/>
            </a:pPr>
            <a:r>
              <a:rPr lang="en-US" sz="1000" dirty="0">
                <a:solidFill>
                  <a:srgbClr val="5B6274"/>
                </a:solidFill>
                <a:latin typeface="Calibri" pitchFamily="34" charset="0"/>
                <a:ea typeface="Calibri" pitchFamily="34" charset="-122"/>
                <a:cs typeface="Calibri" pitchFamily="34" charset="-120"/>
              </a:rPr>
              <a:t>Source: Exploring the Religions of Our World, 3rd ed., Ch. 1 — "Beginning the Journey"</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65836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Key Terms Defined by the Textbook</a:t>
            </a:r>
            <a:endParaRPr lang="en-US" sz="2800" dirty="0"/>
          </a:p>
        </p:txBody>
      </p:sp>
      <p:sp>
        <p:nvSpPr>
          <p:cNvPr id="3" name="Text 1"/>
          <p:cNvSpPr/>
          <p:nvPr/>
        </p:nvSpPr>
        <p:spPr>
          <a:xfrm>
            <a:off x="640080" y="1042416"/>
            <a:ext cx="10972800" cy="310896"/>
          </a:xfrm>
          <a:prstGeom prst="rect">
            <a:avLst/>
          </a:prstGeom>
          <a:noFill/>
          <a:ln/>
        </p:spPr>
        <p:txBody>
          <a:bodyPr wrap="square" lIns="0" tIns="0" rIns="0" bIns="0" rtlCol="0" anchor="ctr"/>
          <a:lstStyle/>
          <a:p>
            <a:pPr indent="0" marL="0">
              <a:buNone/>
            </a:pPr>
            <a:r>
              <a:rPr lang="en-US" sz="1350" i="1" dirty="0">
                <a:solidFill>
                  <a:srgbClr val="5B6274"/>
                </a:solidFill>
                <a:latin typeface="Calibri" pitchFamily="34" charset="0"/>
                <a:ea typeface="Calibri" pitchFamily="34" charset="-122"/>
                <a:cs typeface="Calibri" pitchFamily="34" charset="-120"/>
              </a:rPr>
              <a:t>Part 2, Question 1 — continued</a:t>
            </a:r>
            <a:endParaRPr lang="en-US" sz="1350" dirty="0"/>
          </a:p>
        </p:txBody>
      </p:sp>
      <p:sp>
        <p:nvSpPr>
          <p:cNvPr id="4" name="Shape 2"/>
          <p:cNvSpPr/>
          <p:nvPr/>
        </p:nvSpPr>
        <p:spPr>
          <a:xfrm>
            <a:off x="548640" y="1600200"/>
            <a:ext cx="5440680" cy="4389120"/>
          </a:xfrm>
          <a:prstGeom prst="roundRect">
            <a:avLst>
              <a:gd name="adj" fmla="val 125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5" name="Shape 3"/>
          <p:cNvSpPr/>
          <p:nvPr/>
        </p:nvSpPr>
        <p:spPr>
          <a:xfrm>
            <a:off x="868680" y="1874520"/>
            <a:ext cx="566928" cy="566928"/>
          </a:xfrm>
          <a:prstGeom prst="ellipse">
            <a:avLst/>
          </a:prstGeom>
          <a:solidFill>
            <a:srgbClr val="C69A3E"/>
          </a:solidFill>
          <a:ln w="12700">
            <a:solidFill>
              <a:srgbClr val="C69A3E"/>
            </a:solidFill>
            <a:prstDash val="solid"/>
          </a:ln>
        </p:spPr>
      </p:sp>
      <p:sp>
        <p:nvSpPr>
          <p:cNvPr id="6" name="Text 4"/>
          <p:cNvSpPr/>
          <p:nvPr/>
        </p:nvSpPr>
        <p:spPr>
          <a:xfrm>
            <a:off x="868680" y="18745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7" name="Text 5"/>
          <p:cNvSpPr/>
          <p:nvPr/>
        </p:nvSpPr>
        <p:spPr>
          <a:xfrm>
            <a:off x="1554480" y="1874520"/>
            <a:ext cx="4114800" cy="566928"/>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Evangelization</a:t>
            </a:r>
            <a:endParaRPr lang="en-US" sz="2500" dirty="0"/>
          </a:p>
        </p:txBody>
      </p:sp>
      <p:sp>
        <p:nvSpPr>
          <p:cNvPr id="8" name="Text 6"/>
          <p:cNvSpPr/>
          <p:nvPr/>
        </p:nvSpPr>
        <p:spPr>
          <a:xfrm>
            <a:off x="868680" y="2578608"/>
            <a:ext cx="4800600" cy="292608"/>
          </a:xfrm>
          <a:prstGeom prst="rect">
            <a:avLst/>
          </a:prstGeom>
          <a:noFill/>
          <a:ln/>
        </p:spPr>
        <p:txBody>
          <a:bodyPr wrap="square" lIns="0" tIns="0" rIns="0" bIns="0" rtlCol="0" anchor="ctr"/>
          <a:lstStyle/>
          <a:p>
            <a:pPr indent="0" marL="0">
              <a:buNone/>
            </a:pPr>
            <a:r>
              <a:rPr lang="en-US" sz="1200" b="1" i="1" dirty="0">
                <a:solidFill>
                  <a:srgbClr val="9A7420"/>
                </a:solidFill>
                <a:latin typeface="Calibri" pitchFamily="34" charset="0"/>
                <a:ea typeface="Calibri" pitchFamily="34" charset="-122"/>
                <a:cs typeface="Calibri" pitchFamily="34" charset="-120"/>
              </a:rPr>
              <a:t>Textbook definition, word for word:</a:t>
            </a:r>
            <a:endParaRPr lang="en-US" sz="1200" dirty="0"/>
          </a:p>
        </p:txBody>
      </p:sp>
      <p:sp>
        <p:nvSpPr>
          <p:cNvPr id="9" name="Text 7"/>
          <p:cNvSpPr/>
          <p:nvPr/>
        </p:nvSpPr>
        <p:spPr>
          <a:xfrm>
            <a:off x="868680" y="2926080"/>
            <a:ext cx="4800600" cy="2834640"/>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"From the Greek root word translated into English as 'Gospel'; the 'sharing of the Good News.'"</a:t>
            </a:r>
            <a:endParaRPr lang="en-US" sz="1200" dirty="0"/>
          </a:p>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All baptized Catholics are called to share the Gospel of Jesus Christ with the world (see CCC, 849). Evangelization was traditionally understood as desiring to convert others to Catholic Christianity.</a:t>
            </a:r>
            <a:endParaRPr lang="en-US" sz="1200" dirty="0"/>
          </a:p>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Today, in a world of great religious diversity, Catholics evangelize in dialogue by witnessing — giving testimony of their own faith to another — without trying to get people to change their religious allegiance.</a:t>
            </a:r>
            <a:endParaRPr lang="en-US" sz="1200" dirty="0"/>
          </a:p>
        </p:txBody>
      </p:sp>
      <p:sp>
        <p:nvSpPr>
          <p:cNvPr id="10" name="Shape 8"/>
          <p:cNvSpPr/>
          <p:nvPr/>
        </p:nvSpPr>
        <p:spPr>
          <a:xfrm>
            <a:off x="6172200" y="1600200"/>
            <a:ext cx="5440680" cy="4389120"/>
          </a:xfrm>
          <a:prstGeom prst="roundRect">
            <a:avLst>
              <a:gd name="adj" fmla="val 125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1" name="Shape 9"/>
          <p:cNvSpPr/>
          <p:nvPr/>
        </p:nvSpPr>
        <p:spPr>
          <a:xfrm>
            <a:off x="6492240" y="1874520"/>
            <a:ext cx="566928" cy="566928"/>
          </a:xfrm>
          <a:prstGeom prst="ellipse">
            <a:avLst/>
          </a:prstGeom>
          <a:solidFill>
            <a:srgbClr val="1E2761"/>
          </a:solidFill>
          <a:ln w="12700">
            <a:solidFill>
              <a:srgbClr val="1E2761"/>
            </a:solidFill>
            <a:prstDash val="solid"/>
          </a:ln>
        </p:spPr>
      </p:sp>
      <p:sp>
        <p:nvSpPr>
          <p:cNvPr id="12" name="Text 10"/>
          <p:cNvSpPr/>
          <p:nvPr/>
        </p:nvSpPr>
        <p:spPr>
          <a:xfrm>
            <a:off x="6492240" y="18745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13" name="Text 11"/>
          <p:cNvSpPr/>
          <p:nvPr/>
        </p:nvSpPr>
        <p:spPr>
          <a:xfrm>
            <a:off x="7178040" y="1874520"/>
            <a:ext cx="4114800" cy="566928"/>
          </a:xfrm>
          <a:prstGeom prst="rect">
            <a:avLst/>
          </a:prstGeom>
          <a:noFill/>
          <a:ln/>
        </p:spPr>
        <p:txBody>
          <a:bodyPr wrap="square" lIns="0" tIns="0" rIns="0" bIns="0" rtlCol="0" anchor="ctr"/>
          <a:lstStyle/>
          <a:p>
            <a:pPr indent="0" marL="0">
              <a:buNone/>
            </a:pPr>
            <a:r>
              <a:rPr lang="en-US" sz="2500" b="1" dirty="0">
                <a:solidFill>
                  <a:srgbClr val="1E2761"/>
                </a:solidFill>
                <a:latin typeface="Cambria" pitchFamily="34" charset="0"/>
                <a:ea typeface="Cambria" pitchFamily="34" charset="-122"/>
                <a:cs typeface="Cambria" pitchFamily="34" charset="-120"/>
              </a:rPr>
              <a:t>Myths</a:t>
            </a:r>
            <a:endParaRPr lang="en-US" sz="2500" dirty="0"/>
          </a:p>
        </p:txBody>
      </p:sp>
      <p:sp>
        <p:nvSpPr>
          <p:cNvPr id="14" name="Text 12"/>
          <p:cNvSpPr/>
          <p:nvPr/>
        </p:nvSpPr>
        <p:spPr>
          <a:xfrm>
            <a:off x="6492240" y="2578608"/>
            <a:ext cx="4800600" cy="292608"/>
          </a:xfrm>
          <a:prstGeom prst="rect">
            <a:avLst/>
          </a:prstGeom>
          <a:noFill/>
          <a:ln/>
        </p:spPr>
        <p:txBody>
          <a:bodyPr wrap="square" lIns="0" tIns="0" rIns="0" bIns="0" rtlCol="0" anchor="ctr"/>
          <a:lstStyle/>
          <a:p>
            <a:pPr indent="0" marL="0">
              <a:buNone/>
            </a:pPr>
            <a:r>
              <a:rPr lang="en-US" sz="1200" b="1" i="1" dirty="0">
                <a:solidFill>
                  <a:srgbClr val="1E2761"/>
                </a:solidFill>
                <a:latin typeface="Calibri" pitchFamily="34" charset="0"/>
                <a:ea typeface="Calibri" pitchFamily="34" charset="-122"/>
                <a:cs typeface="Calibri" pitchFamily="34" charset="-120"/>
              </a:rPr>
              <a:t>Textbook definition, word for word:</a:t>
            </a:r>
            <a:endParaRPr lang="en-US" sz="1200" dirty="0"/>
          </a:p>
        </p:txBody>
      </p:sp>
      <p:sp>
        <p:nvSpPr>
          <p:cNvPr id="15" name="Text 13"/>
          <p:cNvSpPr/>
          <p:nvPr/>
        </p:nvSpPr>
        <p:spPr>
          <a:xfrm>
            <a:off x="6492240" y="2926080"/>
            <a:ext cx="4800600" cy="2834640"/>
          </a:xfrm>
          <a:prstGeom prst="rect">
            <a:avLst/>
          </a:prstGeom>
          <a:noFill/>
          <a:ln/>
        </p:spPr>
        <p:txBody>
          <a:bodyPr wrap="square" lIns="0" tIns="0" rIns="0" bIns="0" rtlCol="0" anchor="t"/>
          <a:lstStyle/>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"Traditional or ancient stories that help explain a people's creation, customs, and/or ideals."</a:t>
            </a:r>
            <a:endParaRPr lang="en-US" sz="1200" dirty="0"/>
          </a:p>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Creation stories are the sacred stories most commonly called myths. The textbook is careful here: they are not true stories but truth stories that aim to convey sacred truths.</a:t>
            </a:r>
            <a:endParaRPr lang="en-US" sz="1200" dirty="0"/>
          </a:p>
          <a:p>
            <a:pPr marL="342900" indent="-342900">
              <a:lnSpc>
                <a:spcPct val="106000"/>
              </a:lnSpc>
              <a:spcAft>
                <a:spcPts val="800"/>
              </a:spcAft>
              <a:buSzPct val="100000"/>
              <a:buChar char="•"/>
            </a:pPr>
            <a:r>
              <a:rPr lang="en-US" sz="1200" dirty="0">
                <a:solidFill>
                  <a:srgbClr val="20242E"/>
                </a:solidFill>
                <a:latin typeface="Calibri" pitchFamily="34" charset="0"/>
                <a:ea typeface="Calibri" pitchFamily="34" charset="-122"/>
                <a:cs typeface="Calibri" pitchFamily="34" charset="-120"/>
              </a:rPr>
              <a:t>Myths sit alongside sacred history and empirical history — history verifiable from other sources — in the story a religious community tells about itself.</a:t>
            </a:r>
            <a:endParaRPr lang="en-US" sz="1200" dirty="0"/>
          </a:p>
        </p:txBody>
      </p:sp>
      <p:sp>
        <p:nvSpPr>
          <p:cNvPr id="16" name="Text 14"/>
          <p:cNvSpPr/>
          <p:nvPr/>
        </p:nvSpPr>
        <p:spPr>
          <a:xfrm>
            <a:off x="640080" y="6327648"/>
            <a:ext cx="10881360" cy="274320"/>
          </a:xfrm>
          <a:prstGeom prst="rect">
            <a:avLst/>
          </a:prstGeom>
          <a:noFill/>
          <a:ln/>
        </p:spPr>
        <p:txBody>
          <a:bodyPr wrap="square" lIns="0" tIns="0" rIns="0" bIns="0" rtlCol="0" anchor="ctr"/>
          <a:lstStyle/>
          <a:p>
            <a:pPr indent="0" marL="0">
              <a:buNone/>
            </a:pPr>
            <a:r>
              <a:rPr lang="en-US" sz="1000" dirty="0">
                <a:solidFill>
                  <a:srgbClr val="5B6274"/>
                </a:solidFill>
                <a:latin typeface="Calibri" pitchFamily="34" charset="0"/>
                <a:ea typeface="Calibri" pitchFamily="34" charset="-122"/>
                <a:cs typeface="Calibri" pitchFamily="34" charset="-120"/>
              </a:rPr>
              <a:t>Source: Exploring the Religions of Our World, 3rd ed., Ch. 1 — "Beginning the Journey"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65836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Three Reasons to Study the World's Religions</a:t>
            </a:r>
            <a:endParaRPr lang="en-US" sz="2800" dirty="0"/>
          </a:p>
        </p:txBody>
      </p:sp>
      <p:sp>
        <p:nvSpPr>
          <p:cNvPr id="3" name="Text 1"/>
          <p:cNvSpPr/>
          <p:nvPr/>
        </p:nvSpPr>
        <p:spPr>
          <a:xfrm>
            <a:off x="640080" y="1042416"/>
            <a:ext cx="10972800" cy="310896"/>
          </a:xfrm>
          <a:prstGeom prst="rect">
            <a:avLst/>
          </a:prstGeom>
          <a:noFill/>
          <a:ln/>
        </p:spPr>
        <p:txBody>
          <a:bodyPr wrap="square" lIns="0" tIns="0" rIns="0" bIns="0" rtlCol="0" anchor="ctr"/>
          <a:lstStyle/>
          <a:p>
            <a:pPr indent="0" marL="0">
              <a:buNone/>
            </a:pPr>
            <a:r>
              <a:rPr lang="en-US" sz="1350" i="1" dirty="0">
                <a:solidFill>
                  <a:srgbClr val="5B6274"/>
                </a:solidFill>
                <a:latin typeface="Calibri" pitchFamily="34" charset="0"/>
                <a:ea typeface="Calibri" pitchFamily="34" charset="-122"/>
                <a:cs typeface="Calibri" pitchFamily="34" charset="-120"/>
              </a:rPr>
              <a:t>Part 2, Question 2 — selected from the textbook's list of reasons</a:t>
            </a:r>
            <a:endParaRPr lang="en-US" sz="1350" dirty="0"/>
          </a:p>
        </p:txBody>
      </p:sp>
      <p:sp>
        <p:nvSpPr>
          <p:cNvPr id="4" name="Shape 2"/>
          <p:cNvSpPr/>
          <p:nvPr/>
        </p:nvSpPr>
        <p:spPr>
          <a:xfrm>
            <a:off x="548640" y="1645920"/>
            <a:ext cx="3593592" cy="4160520"/>
          </a:xfrm>
          <a:prstGeom prst="roundRect">
            <a:avLst>
              <a:gd name="adj" fmla="val 1527"/>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5" name="Shape 3"/>
          <p:cNvSpPr/>
          <p:nvPr/>
        </p:nvSpPr>
        <p:spPr>
          <a:xfrm>
            <a:off x="841248" y="1920240"/>
            <a:ext cx="658368" cy="658368"/>
          </a:xfrm>
          <a:prstGeom prst="ellipse">
            <a:avLst/>
          </a:prstGeom>
          <a:solidFill>
            <a:srgbClr val="BF5637"/>
          </a:solidFill>
          <a:ln w="12700">
            <a:solidFill>
              <a:srgbClr val="BF5637"/>
            </a:solidFill>
            <a:prstDash val="solid"/>
          </a:ln>
        </p:spPr>
      </p:sp>
      <p:sp>
        <p:nvSpPr>
          <p:cNvPr id="6" name="Text 4"/>
          <p:cNvSpPr/>
          <p:nvPr/>
        </p:nvSpPr>
        <p:spPr>
          <a:xfrm>
            <a:off x="841248" y="192024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p:nvPr/>
        </p:nvSpPr>
        <p:spPr>
          <a:xfrm>
            <a:off x="841248" y="2743200"/>
            <a:ext cx="3017520" cy="914400"/>
          </a:xfrm>
          <a:prstGeom prst="rect">
            <a:avLst/>
          </a:prstGeom>
          <a:noFill/>
          <a:ln/>
        </p:spPr>
        <p:txBody>
          <a:bodyPr wrap="square" lIns="0" tIns="0" rIns="0" bIns="0" rtlCol="0" anchor="t"/>
          <a:lstStyle/>
          <a:p>
            <a:pPr indent="0" marL="0">
              <a:lnSpc>
                <a:spcPct val="102000"/>
              </a:lnSpc>
              <a:buNone/>
            </a:pPr>
            <a:r>
              <a:rPr lang="en-US" sz="1700" b="1" dirty="0">
                <a:solidFill>
                  <a:srgbClr val="1E2761"/>
                </a:solidFill>
                <a:latin typeface="Cambria" pitchFamily="34" charset="0"/>
                <a:ea typeface="Cambria" pitchFamily="34" charset="-122"/>
                <a:cs typeface="Cambria" pitchFamily="34" charset="-120"/>
              </a:rPr>
              <a:t>To understand your own tradition more clearly</a:t>
            </a:r>
            <a:endParaRPr lang="en-US" sz="1700" dirty="0"/>
          </a:p>
        </p:txBody>
      </p:sp>
      <p:sp>
        <p:nvSpPr>
          <p:cNvPr id="8" name="Text 6"/>
          <p:cNvSpPr/>
          <p:nvPr/>
        </p:nvSpPr>
        <p:spPr>
          <a:xfrm>
            <a:off x="841248" y="3703320"/>
            <a:ext cx="3017520" cy="1965960"/>
          </a:xfrm>
          <a:prstGeom prst="rect">
            <a:avLst/>
          </a:prstGeom>
          <a:noFill/>
          <a:ln/>
        </p:spPr>
        <p:txBody>
          <a:bodyPr wrap="square" lIns="0" tIns="0" rIns="0" bIns="0" rtlCol="0" anchor="t"/>
          <a:lstStyle/>
          <a:p>
            <a:pPr indent="0" marL="0">
              <a:lnSpc>
                <a:spcPct val="108000"/>
              </a:lnSpc>
              <a:buNone/>
            </a:pPr>
            <a:r>
              <a:rPr lang="en-US" sz="1200" dirty="0">
                <a:solidFill>
                  <a:srgbClr val="20242E"/>
                </a:solidFill>
                <a:latin typeface="Calibri" pitchFamily="34" charset="0"/>
                <a:ea typeface="Calibri" pitchFamily="34" charset="-122"/>
                <a:cs typeface="Calibri" pitchFamily="34" charset="-120"/>
              </a:rPr>
              <a:t>The textbook lists this first: studying other traditions gives you a clearer understanding of your own religious tradition, "which in turn allows more commitment to and thus growth in your own religious tradition." Chapter 1 promises that we return from the journey with more insight into our own Catholic faith.</a:t>
            </a:r>
            <a:endParaRPr lang="en-US" sz="1200" dirty="0"/>
          </a:p>
        </p:txBody>
      </p:sp>
      <p:sp>
        <p:nvSpPr>
          <p:cNvPr id="9" name="Shape 7"/>
          <p:cNvSpPr/>
          <p:nvPr/>
        </p:nvSpPr>
        <p:spPr>
          <a:xfrm>
            <a:off x="4325112" y="1645920"/>
            <a:ext cx="3593592" cy="4160520"/>
          </a:xfrm>
          <a:prstGeom prst="roundRect">
            <a:avLst>
              <a:gd name="adj" fmla="val 1527"/>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0" name="Shape 8"/>
          <p:cNvSpPr/>
          <p:nvPr/>
        </p:nvSpPr>
        <p:spPr>
          <a:xfrm>
            <a:off x="4617720" y="1920240"/>
            <a:ext cx="658368" cy="658368"/>
          </a:xfrm>
          <a:prstGeom prst="ellipse">
            <a:avLst/>
          </a:prstGeom>
          <a:solidFill>
            <a:srgbClr val="1C7293"/>
          </a:solidFill>
          <a:ln w="12700">
            <a:solidFill>
              <a:srgbClr val="1C7293"/>
            </a:solidFill>
            <a:prstDash val="solid"/>
          </a:ln>
        </p:spPr>
      </p:sp>
      <p:sp>
        <p:nvSpPr>
          <p:cNvPr id="11" name="Text 9"/>
          <p:cNvSpPr/>
          <p:nvPr/>
        </p:nvSpPr>
        <p:spPr>
          <a:xfrm>
            <a:off x="4617720" y="192024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2" name="Text 10"/>
          <p:cNvSpPr/>
          <p:nvPr/>
        </p:nvSpPr>
        <p:spPr>
          <a:xfrm>
            <a:off x="4617720" y="2743200"/>
            <a:ext cx="3017520" cy="914400"/>
          </a:xfrm>
          <a:prstGeom prst="rect">
            <a:avLst/>
          </a:prstGeom>
          <a:noFill/>
          <a:ln/>
        </p:spPr>
        <p:txBody>
          <a:bodyPr wrap="square" lIns="0" tIns="0" rIns="0" bIns="0" rtlCol="0" anchor="t"/>
          <a:lstStyle/>
          <a:p>
            <a:pPr indent="0" marL="0">
              <a:lnSpc>
                <a:spcPct val="102000"/>
              </a:lnSpc>
              <a:buNone/>
            </a:pPr>
            <a:r>
              <a:rPr lang="en-US" sz="1700" b="1" dirty="0">
                <a:solidFill>
                  <a:srgbClr val="1E2761"/>
                </a:solidFill>
                <a:latin typeface="Cambria" pitchFamily="34" charset="0"/>
                <a:ea typeface="Cambria" pitchFamily="34" charset="-122"/>
                <a:cs typeface="Cambria" pitchFamily="34" charset="-120"/>
              </a:rPr>
              <a:t>To dispel fear and misunderstanding of others</a:t>
            </a:r>
            <a:endParaRPr lang="en-US" sz="1700" dirty="0"/>
          </a:p>
        </p:txBody>
      </p:sp>
      <p:sp>
        <p:nvSpPr>
          <p:cNvPr id="13" name="Text 11"/>
          <p:cNvSpPr/>
          <p:nvPr/>
        </p:nvSpPr>
        <p:spPr>
          <a:xfrm>
            <a:off x="4617720" y="3703320"/>
            <a:ext cx="3017520" cy="1965960"/>
          </a:xfrm>
          <a:prstGeom prst="rect">
            <a:avLst/>
          </a:prstGeom>
          <a:noFill/>
          <a:ln/>
        </p:spPr>
        <p:txBody>
          <a:bodyPr wrap="square" lIns="0" tIns="0" rIns="0" bIns="0" rtlCol="0" anchor="t"/>
          <a:lstStyle/>
          <a:p>
            <a:pPr indent="0" marL="0">
              <a:lnSpc>
                <a:spcPct val="108000"/>
              </a:lnSpc>
              <a:buNone/>
            </a:pPr>
            <a:r>
              <a:rPr lang="en-US" sz="1200" dirty="0">
                <a:solidFill>
                  <a:srgbClr val="20242E"/>
                </a:solidFill>
                <a:latin typeface="Calibri" pitchFamily="34" charset="0"/>
                <a:ea typeface="Calibri" pitchFamily="34" charset="-122"/>
                <a:cs typeface="Calibri" pitchFamily="34" charset="-120"/>
              </a:rPr>
              <a:t>Studying the world's religions helps "dispel fears and misunderstandings relating to persons of other religious traditions" and makes us more open to and accepting of people who on the surface seem very different. As late as 1960, Catholic leaders still called Protestants "heretics" and Jews "Christ killers."</a:t>
            </a:r>
            <a:endParaRPr lang="en-US" sz="1200" dirty="0"/>
          </a:p>
        </p:txBody>
      </p:sp>
      <p:sp>
        <p:nvSpPr>
          <p:cNvPr id="14" name="Shape 12"/>
          <p:cNvSpPr/>
          <p:nvPr/>
        </p:nvSpPr>
        <p:spPr>
          <a:xfrm>
            <a:off x="8101584" y="1645920"/>
            <a:ext cx="3593592" cy="4160520"/>
          </a:xfrm>
          <a:prstGeom prst="roundRect">
            <a:avLst>
              <a:gd name="adj" fmla="val 1527"/>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5" name="Shape 13"/>
          <p:cNvSpPr/>
          <p:nvPr/>
        </p:nvSpPr>
        <p:spPr>
          <a:xfrm>
            <a:off x="8394192" y="1920240"/>
            <a:ext cx="658368" cy="658368"/>
          </a:xfrm>
          <a:prstGeom prst="ellipse">
            <a:avLst/>
          </a:prstGeom>
          <a:solidFill>
            <a:srgbClr val="C69A3E"/>
          </a:solidFill>
          <a:ln w="12700">
            <a:solidFill>
              <a:srgbClr val="C69A3E"/>
            </a:solidFill>
            <a:prstDash val="solid"/>
          </a:ln>
        </p:spPr>
      </p:sp>
      <p:sp>
        <p:nvSpPr>
          <p:cNvPr id="16" name="Text 14"/>
          <p:cNvSpPr/>
          <p:nvPr/>
        </p:nvSpPr>
        <p:spPr>
          <a:xfrm>
            <a:off x="8394192" y="1920240"/>
            <a:ext cx="658368" cy="65836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5"/>
          <p:cNvSpPr/>
          <p:nvPr/>
        </p:nvSpPr>
        <p:spPr>
          <a:xfrm>
            <a:off x="8394192" y="2743200"/>
            <a:ext cx="3017520" cy="914400"/>
          </a:xfrm>
          <a:prstGeom prst="rect">
            <a:avLst/>
          </a:prstGeom>
          <a:noFill/>
          <a:ln/>
        </p:spPr>
        <p:txBody>
          <a:bodyPr wrap="square" lIns="0" tIns="0" rIns="0" bIns="0" rtlCol="0" anchor="t"/>
          <a:lstStyle/>
          <a:p>
            <a:pPr indent="0" marL="0">
              <a:lnSpc>
                <a:spcPct val="102000"/>
              </a:lnSpc>
              <a:buNone/>
            </a:pPr>
            <a:r>
              <a:rPr lang="en-US" sz="1700" b="1" dirty="0">
                <a:solidFill>
                  <a:srgbClr val="1E2761"/>
                </a:solidFill>
                <a:latin typeface="Cambria" pitchFamily="34" charset="0"/>
                <a:ea typeface="Cambria" pitchFamily="34" charset="-122"/>
                <a:cs typeface="Cambria" pitchFamily="34" charset="-120"/>
              </a:rPr>
              <a:t>To learn from the world's great sources of wisdom</a:t>
            </a:r>
            <a:endParaRPr lang="en-US" sz="1700" dirty="0"/>
          </a:p>
        </p:txBody>
      </p:sp>
      <p:sp>
        <p:nvSpPr>
          <p:cNvPr id="18" name="Text 16"/>
          <p:cNvSpPr/>
          <p:nvPr/>
        </p:nvSpPr>
        <p:spPr>
          <a:xfrm>
            <a:off x="8394192" y="3703320"/>
            <a:ext cx="3017520" cy="1965960"/>
          </a:xfrm>
          <a:prstGeom prst="rect">
            <a:avLst/>
          </a:prstGeom>
          <a:noFill/>
          <a:ln/>
        </p:spPr>
        <p:txBody>
          <a:bodyPr wrap="square" lIns="0" tIns="0" rIns="0" bIns="0" rtlCol="0" anchor="t"/>
          <a:lstStyle/>
          <a:p>
            <a:pPr indent="0" marL="0">
              <a:lnSpc>
                <a:spcPct val="108000"/>
              </a:lnSpc>
              <a:buNone/>
            </a:pPr>
            <a:r>
              <a:rPr lang="en-US" sz="1200" dirty="0">
                <a:solidFill>
                  <a:srgbClr val="20242E"/>
                </a:solidFill>
                <a:latin typeface="Calibri" pitchFamily="34" charset="0"/>
                <a:ea typeface="Calibri" pitchFamily="34" charset="-122"/>
                <a:cs typeface="Calibri" pitchFamily="34" charset="-120"/>
              </a:rPr>
              <a:t>The textbook invites us "to learn from some of the world's great sources of wisdom," gaining better insight into human beings through their religious activity, into the history of humankind's civilizations — since religion is almost always an important factor — and into the cultures around the globe today.</a:t>
            </a:r>
            <a:endParaRPr lang="en-US" sz="1200" dirty="0"/>
          </a:p>
        </p:txBody>
      </p:sp>
      <p:sp>
        <p:nvSpPr>
          <p:cNvPr id="19" name="Text 17"/>
          <p:cNvSpPr/>
          <p:nvPr/>
        </p:nvSpPr>
        <p:spPr>
          <a:xfrm>
            <a:off x="548640" y="5943600"/>
            <a:ext cx="11064240" cy="320040"/>
          </a:xfrm>
          <a:prstGeom prst="rect">
            <a:avLst/>
          </a:prstGeom>
          <a:noFill/>
          <a:ln/>
        </p:spPr>
        <p:txBody>
          <a:bodyPr wrap="square" lIns="0" tIns="0" rIns="0" bIns="0" rtlCol="0" anchor="ctr"/>
          <a:lstStyle/>
          <a:p>
            <a:pPr indent="0" marL="0">
              <a:buNone/>
            </a:pPr>
            <a:r>
              <a:rPr lang="en-US" sz="1150" i="1" dirty="0">
                <a:solidFill>
                  <a:srgbClr val="5B6274"/>
                </a:solidFill>
                <a:latin typeface="Calibri" pitchFamily="34" charset="0"/>
                <a:ea typeface="Calibri" pitchFamily="34" charset="-122"/>
                <a:cs typeface="Calibri" pitchFamily="34" charset="-120"/>
              </a:rPr>
              <a:t>The textbook adds that until very recently the study of religious traditions was a peculiarly Western discipline — nowadays it is universal.</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65836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Why Christians Should Engage in Interreligious Dialogue</a:t>
            </a:r>
            <a:endParaRPr lang="en-US" sz="2800" dirty="0"/>
          </a:p>
        </p:txBody>
      </p:sp>
      <p:sp>
        <p:nvSpPr>
          <p:cNvPr id="3" name="Text 1"/>
          <p:cNvSpPr/>
          <p:nvPr/>
        </p:nvSpPr>
        <p:spPr>
          <a:xfrm>
            <a:off x="640080" y="1042416"/>
            <a:ext cx="10972800" cy="310896"/>
          </a:xfrm>
          <a:prstGeom prst="rect">
            <a:avLst/>
          </a:prstGeom>
          <a:noFill/>
          <a:ln/>
        </p:spPr>
        <p:txBody>
          <a:bodyPr wrap="square" lIns="0" tIns="0" rIns="0" bIns="0" rtlCol="0" anchor="ctr"/>
          <a:lstStyle/>
          <a:p>
            <a:pPr indent="0" marL="0">
              <a:buNone/>
            </a:pPr>
            <a:r>
              <a:rPr lang="en-US" sz="1350" i="1" dirty="0">
                <a:solidFill>
                  <a:srgbClr val="5B6274"/>
                </a:solidFill>
                <a:latin typeface="Calibri" pitchFamily="34" charset="0"/>
                <a:ea typeface="Calibri" pitchFamily="34" charset="-122"/>
                <a:cs typeface="Calibri" pitchFamily="34" charset="-120"/>
              </a:rPr>
              <a:t>Part 2, Question 3 — "Interreligious dialogue is the duty of all Catholics"</a:t>
            </a:r>
            <a:endParaRPr lang="en-US" sz="1350" dirty="0"/>
          </a:p>
        </p:txBody>
      </p:sp>
      <p:sp>
        <p:nvSpPr>
          <p:cNvPr id="4" name="Shape 2"/>
          <p:cNvSpPr/>
          <p:nvPr/>
        </p:nvSpPr>
        <p:spPr>
          <a:xfrm>
            <a:off x="548640" y="1645920"/>
            <a:ext cx="4114800" cy="4160520"/>
          </a:xfrm>
          <a:prstGeom prst="roundRect">
            <a:avLst>
              <a:gd name="adj" fmla="val 1111"/>
            </a:avLst>
          </a:prstGeom>
          <a:solidFill>
            <a:srgbClr val="1E2761"/>
          </a:solidFill>
          <a:ln w="12700">
            <a:solidFill>
              <a:srgbClr val="1E2761"/>
            </a:solidFill>
            <a:prstDash val="solid"/>
          </a:ln>
          <a:effectLst>
            <a:outerShdw sx="100000" sy="100000" kx="0" ky="0" algn="bl" rotWithShape="0" blurRad="127000" dist="25400" dir="5400000">
              <a:srgbClr val="9AA1B5">
                <a:alpha val="30000"/>
              </a:srgbClr>
            </a:outerShdw>
          </a:effectLst>
        </p:spPr>
      </p:sp>
      <p:sp>
        <p:nvSpPr>
          <p:cNvPr id="5" name="Text 3"/>
          <p:cNvSpPr/>
          <p:nvPr/>
        </p:nvSpPr>
        <p:spPr>
          <a:xfrm>
            <a:off x="868680" y="1965960"/>
            <a:ext cx="3474720" cy="77724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It is part of the mission itself</a:t>
            </a:r>
            <a:endParaRPr lang="en-US" sz="2100" dirty="0"/>
          </a:p>
        </p:txBody>
      </p:sp>
      <p:sp>
        <p:nvSpPr>
          <p:cNvPr id="6" name="Text 4"/>
          <p:cNvSpPr/>
          <p:nvPr/>
        </p:nvSpPr>
        <p:spPr>
          <a:xfrm>
            <a:off x="868680" y="2788920"/>
            <a:ext cx="3474720" cy="2834640"/>
          </a:xfrm>
          <a:prstGeom prst="rect">
            <a:avLst/>
          </a:prstGeom>
          <a:noFill/>
          <a:ln/>
        </p:spPr>
        <p:txBody>
          <a:bodyPr wrap="square" lIns="0" tIns="0" rIns="0" bIns="0" rtlCol="0" anchor="t"/>
          <a:lstStyle/>
          <a:p>
            <a:pPr indent="0" marL="0">
              <a:lnSpc>
                <a:spcPct val="110000"/>
              </a:lnSpc>
              <a:buNone/>
            </a:pPr>
            <a:r>
              <a:rPr lang="en-US" sz="1300" dirty="0">
                <a:solidFill>
                  <a:srgbClr val="D8DDEE"/>
                </a:solidFill>
                <a:latin typeface="Calibri" pitchFamily="34" charset="0"/>
                <a:ea typeface="Calibri" pitchFamily="34" charset="-122"/>
                <a:cs typeface="Calibri" pitchFamily="34" charset="-120"/>
              </a:rPr>
              <a:t>All baptized Catholics are called to share the Gospel of Jesus Christ with the world (see CCC, 849). That is evangelization — and the Church is very clear that there is no conflict between dialogue and proclamation.</a:t>
            </a:r>
            <a:endParaRPr lang="en-US" sz="1300" dirty="0"/>
          </a:p>
          <a:p>
            <a:pPr indent="0" marL="0">
              <a:lnSpc>
                <a:spcPct val="110000"/>
              </a:lnSpc>
              <a:buNone/>
            </a:pPr>
            <a:endParaRPr lang="en-US" sz="1300" dirty="0"/>
          </a:p>
          <a:p>
            <a:pPr indent="0" marL="0">
              <a:lnSpc>
                <a:spcPct val="110000"/>
              </a:lnSpc>
              <a:buNone/>
            </a:pPr>
            <a:r>
              <a:rPr lang="en-US" sz="1300" dirty="0">
                <a:solidFill>
                  <a:srgbClr val="D8DDEE"/>
                </a:solidFill>
                <a:latin typeface="Calibri" pitchFamily="34" charset="0"/>
                <a:ea typeface="Calibri" pitchFamily="34" charset="-122"/>
                <a:cs typeface="Calibri" pitchFamily="34" charset="-120"/>
              </a:rPr>
              <a:t>In dialogue, Catholics are evangelizing by witnessing to their faith without trying to get people to change their religious allegiance. So dialogue is not a detour from the Christian mission; it is one of the ways that mission is carried out.</a:t>
            </a:r>
            <a:endParaRPr lang="en-US" sz="1300" dirty="0"/>
          </a:p>
        </p:txBody>
      </p:sp>
      <p:sp>
        <p:nvSpPr>
          <p:cNvPr id="7" name="Shape 5"/>
          <p:cNvSpPr/>
          <p:nvPr/>
        </p:nvSpPr>
        <p:spPr>
          <a:xfrm>
            <a:off x="4937760" y="1645920"/>
            <a:ext cx="6675120" cy="1307592"/>
          </a:xfrm>
          <a:prstGeom prst="roundRect">
            <a:avLst>
              <a:gd name="adj" fmla="val 4196"/>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8" name="Shape 6"/>
          <p:cNvSpPr/>
          <p:nvPr/>
        </p:nvSpPr>
        <p:spPr>
          <a:xfrm>
            <a:off x="5166360" y="1920240"/>
            <a:ext cx="457200" cy="457200"/>
          </a:xfrm>
          <a:prstGeom prst="ellipse">
            <a:avLst/>
          </a:prstGeom>
          <a:solidFill>
            <a:srgbClr val="BF5637"/>
          </a:solidFill>
          <a:ln w="12700">
            <a:solidFill>
              <a:srgbClr val="BF5637"/>
            </a:solidFill>
            <a:prstDash val="solid"/>
          </a:ln>
        </p:spPr>
      </p:sp>
      <p:sp>
        <p:nvSpPr>
          <p:cNvPr id="9" name="Text 7"/>
          <p:cNvSpPr/>
          <p:nvPr/>
        </p:nvSpPr>
        <p:spPr>
          <a:xfrm>
            <a:off x="5166360" y="1920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8"/>
          <p:cNvSpPr/>
          <p:nvPr/>
        </p:nvSpPr>
        <p:spPr>
          <a:xfrm>
            <a:off x="5760720" y="1819656"/>
            <a:ext cx="5669280" cy="32004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The Church formally asks for it</a:t>
            </a:r>
            <a:endParaRPr lang="en-US" sz="1550" dirty="0"/>
          </a:p>
        </p:txBody>
      </p:sp>
      <p:sp>
        <p:nvSpPr>
          <p:cNvPr id="11" name="Text 9"/>
          <p:cNvSpPr/>
          <p:nvPr/>
        </p:nvSpPr>
        <p:spPr>
          <a:xfrm>
            <a:off x="5760720" y="2157984"/>
            <a:ext cx="5669280" cy="731520"/>
          </a:xfrm>
          <a:prstGeom prst="rect">
            <a:avLst/>
          </a:prstGeom>
          <a:noFill/>
          <a:ln/>
        </p:spPr>
        <p:txBody>
          <a:bodyPr wrap="square" lIns="0" tIns="0" rIns="0" bIns="0" rtlCol="0" anchor="t"/>
          <a:lstStyle/>
          <a:p>
            <a:pPr indent="0" marL="0">
              <a:lnSpc>
                <a:spcPct val="103000"/>
              </a:lnSpc>
              <a:buNone/>
            </a:pPr>
            <a:r>
              <a:rPr lang="en-US" sz="1150" dirty="0">
                <a:solidFill>
                  <a:srgbClr val="20242E"/>
                </a:solidFill>
                <a:latin typeface="Calibri" pitchFamily="34" charset="0"/>
                <a:ea typeface="Calibri" pitchFamily="34" charset="-122"/>
                <a:cs typeface="Calibri" pitchFamily="34" charset="-120"/>
              </a:rPr>
              <a:t>Three Second Vatican Council documents set the expectation: Dignitatis Humanae on religious freedom, Unitatis Redintegratio on other Christians, and Nostra Aetate on non-Christian religions. Nostra Aetate states that the Church "rejects nothing that is true and holy in these religions."</a:t>
            </a:r>
            <a:endParaRPr lang="en-US" sz="1150" dirty="0"/>
          </a:p>
        </p:txBody>
      </p:sp>
      <p:sp>
        <p:nvSpPr>
          <p:cNvPr id="12" name="Shape 10"/>
          <p:cNvSpPr/>
          <p:nvPr/>
        </p:nvSpPr>
        <p:spPr>
          <a:xfrm>
            <a:off x="4937760" y="3072384"/>
            <a:ext cx="6675120" cy="1307592"/>
          </a:xfrm>
          <a:prstGeom prst="roundRect">
            <a:avLst>
              <a:gd name="adj" fmla="val 4196"/>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3" name="Shape 11"/>
          <p:cNvSpPr/>
          <p:nvPr/>
        </p:nvSpPr>
        <p:spPr>
          <a:xfrm>
            <a:off x="5166360" y="3346704"/>
            <a:ext cx="457200" cy="457200"/>
          </a:xfrm>
          <a:prstGeom prst="ellipse">
            <a:avLst/>
          </a:prstGeom>
          <a:solidFill>
            <a:srgbClr val="1C7293"/>
          </a:solidFill>
          <a:ln w="12700">
            <a:solidFill>
              <a:srgbClr val="1C7293"/>
            </a:solidFill>
            <a:prstDash val="solid"/>
          </a:ln>
        </p:spPr>
      </p:sp>
      <p:sp>
        <p:nvSpPr>
          <p:cNvPr id="14" name="Text 12"/>
          <p:cNvSpPr/>
          <p:nvPr/>
        </p:nvSpPr>
        <p:spPr>
          <a:xfrm>
            <a:off x="5166360" y="334670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3"/>
          <p:cNvSpPr/>
          <p:nvPr/>
        </p:nvSpPr>
        <p:spPr>
          <a:xfrm>
            <a:off x="5760720" y="3246120"/>
            <a:ext cx="5669280" cy="32004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The Holy Spirit is already at work in others</a:t>
            </a:r>
            <a:endParaRPr lang="en-US" sz="1550" dirty="0"/>
          </a:p>
        </p:txBody>
      </p:sp>
      <p:sp>
        <p:nvSpPr>
          <p:cNvPr id="16" name="Text 14"/>
          <p:cNvSpPr/>
          <p:nvPr/>
        </p:nvSpPr>
        <p:spPr>
          <a:xfrm>
            <a:off x="5760720" y="3584448"/>
            <a:ext cx="5669280" cy="731520"/>
          </a:xfrm>
          <a:prstGeom prst="rect">
            <a:avLst/>
          </a:prstGeom>
          <a:noFill/>
          <a:ln/>
        </p:spPr>
        <p:txBody>
          <a:bodyPr wrap="square" lIns="0" tIns="0" rIns="0" bIns="0" rtlCol="0" anchor="t"/>
          <a:lstStyle/>
          <a:p>
            <a:pPr indent="0" marL="0">
              <a:lnSpc>
                <a:spcPct val="103000"/>
              </a:lnSpc>
              <a:buNone/>
            </a:pPr>
            <a:r>
              <a:rPr lang="en-US" sz="1150" dirty="0">
                <a:solidFill>
                  <a:srgbClr val="20242E"/>
                </a:solidFill>
                <a:latin typeface="Calibri" pitchFamily="34" charset="0"/>
                <a:ea typeface="Calibri" pitchFamily="34" charset="-122"/>
                <a:cs typeface="Calibri" pitchFamily="34" charset="-120"/>
              </a:rPr>
              <a:t>God, the Father of all, offers salvation to all nations, and the Holy Spirit works outside the visible limits of the Church, so people everywhere seek to adore God authentically. Other scriptures encourage people to seek truth and to defend life, holiness, justice, peace, and freedom.</a:t>
            </a:r>
            <a:endParaRPr lang="en-US" sz="1150" dirty="0"/>
          </a:p>
        </p:txBody>
      </p:sp>
      <p:sp>
        <p:nvSpPr>
          <p:cNvPr id="17" name="Shape 15"/>
          <p:cNvSpPr/>
          <p:nvPr/>
        </p:nvSpPr>
        <p:spPr>
          <a:xfrm>
            <a:off x="4937760" y="4498848"/>
            <a:ext cx="6675120" cy="1307592"/>
          </a:xfrm>
          <a:prstGeom prst="roundRect">
            <a:avLst>
              <a:gd name="adj" fmla="val 4196"/>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8" name="Shape 16"/>
          <p:cNvSpPr/>
          <p:nvPr/>
        </p:nvSpPr>
        <p:spPr>
          <a:xfrm>
            <a:off x="5166360" y="4773168"/>
            <a:ext cx="457200" cy="457200"/>
          </a:xfrm>
          <a:prstGeom prst="ellipse">
            <a:avLst/>
          </a:prstGeom>
          <a:solidFill>
            <a:srgbClr val="C69A3E"/>
          </a:solidFill>
          <a:ln w="12700">
            <a:solidFill>
              <a:srgbClr val="C69A3E"/>
            </a:solidFill>
            <a:prstDash val="solid"/>
          </a:ln>
        </p:spPr>
      </p:sp>
      <p:sp>
        <p:nvSpPr>
          <p:cNvPr id="19" name="Text 17"/>
          <p:cNvSpPr/>
          <p:nvPr/>
        </p:nvSpPr>
        <p:spPr>
          <a:xfrm>
            <a:off x="5166360" y="47731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8"/>
          <p:cNvSpPr/>
          <p:nvPr/>
        </p:nvSpPr>
        <p:spPr>
          <a:xfrm>
            <a:off x="5760720" y="4672584"/>
            <a:ext cx="5669280" cy="320040"/>
          </a:xfrm>
          <a:prstGeom prst="rect">
            <a:avLst/>
          </a:prstGeom>
          <a:noFill/>
          <a:ln/>
        </p:spPr>
        <p:txBody>
          <a:bodyPr wrap="square" lIns="0" tIns="0" rIns="0" bIns="0" rtlCol="0" anchor="ctr"/>
          <a:lstStyle/>
          <a:p>
            <a:pPr indent="0" marL="0">
              <a:buNone/>
            </a:pPr>
            <a:r>
              <a:rPr lang="en-US" sz="1550" b="1" dirty="0">
                <a:solidFill>
                  <a:srgbClr val="1E2761"/>
                </a:solidFill>
                <a:latin typeface="Cambria" pitchFamily="34" charset="0"/>
                <a:ea typeface="Cambria" pitchFamily="34" charset="-122"/>
                <a:cs typeface="Cambria" pitchFamily="34" charset="-120"/>
              </a:rPr>
              <a:t>Both sides are enriched and purified</a:t>
            </a:r>
            <a:endParaRPr lang="en-US" sz="1550" dirty="0"/>
          </a:p>
        </p:txBody>
      </p:sp>
      <p:sp>
        <p:nvSpPr>
          <p:cNvPr id="21" name="Text 19"/>
          <p:cNvSpPr/>
          <p:nvPr/>
        </p:nvSpPr>
        <p:spPr>
          <a:xfrm>
            <a:off x="5760720" y="5010912"/>
            <a:ext cx="5669280" cy="731520"/>
          </a:xfrm>
          <a:prstGeom prst="rect">
            <a:avLst/>
          </a:prstGeom>
          <a:noFill/>
          <a:ln/>
        </p:spPr>
        <p:txBody>
          <a:bodyPr wrap="square" lIns="0" tIns="0" rIns="0" bIns="0" rtlCol="0" anchor="t"/>
          <a:lstStyle/>
          <a:p>
            <a:pPr indent="0" marL="0">
              <a:lnSpc>
                <a:spcPct val="103000"/>
              </a:lnSpc>
              <a:buNone/>
            </a:pPr>
            <a:r>
              <a:rPr lang="en-US" sz="1150" dirty="0">
                <a:solidFill>
                  <a:srgbClr val="20242E"/>
                </a:solidFill>
                <a:latin typeface="Calibri" pitchFamily="34" charset="0"/>
                <a:ea typeface="Calibri" pitchFamily="34" charset="-122"/>
                <a:cs typeface="Calibri" pitchFamily="34" charset="-120"/>
              </a:rPr>
              <a:t>Pope John Paul II wrote that dialogue enriches each side, eliminates prejudice, intolerance, and misunderstandings, and "leads to inner purification and conversion which, if pursued with docility to the Holy Spirit, will be spiritually fruitful" (Redemptoris Missio, 56).</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65836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What That Dialogue Actually Looks Like</a:t>
            </a:r>
            <a:endParaRPr lang="en-US" sz="2800" dirty="0"/>
          </a:p>
        </p:txBody>
      </p:sp>
      <p:sp>
        <p:nvSpPr>
          <p:cNvPr id="3" name="Text 1"/>
          <p:cNvSpPr/>
          <p:nvPr/>
        </p:nvSpPr>
        <p:spPr>
          <a:xfrm>
            <a:off x="640080" y="1042416"/>
            <a:ext cx="10972800" cy="310896"/>
          </a:xfrm>
          <a:prstGeom prst="rect">
            <a:avLst/>
          </a:prstGeom>
          <a:noFill/>
          <a:ln/>
        </p:spPr>
        <p:txBody>
          <a:bodyPr wrap="square" lIns="0" tIns="0" rIns="0" bIns="0" rtlCol="0" anchor="ctr"/>
          <a:lstStyle/>
          <a:p>
            <a:pPr indent="0" marL="0">
              <a:buNone/>
            </a:pPr>
            <a:r>
              <a:rPr lang="en-US" sz="1350" i="1" dirty="0">
                <a:solidFill>
                  <a:srgbClr val="5B6274"/>
                </a:solidFill>
                <a:latin typeface="Calibri" pitchFamily="34" charset="0"/>
                <a:ea typeface="Calibri" pitchFamily="34" charset="-122"/>
                <a:cs typeface="Calibri" pitchFamily="34" charset="-120"/>
              </a:rPr>
              <a:t>Part 2, Question 3 — the popes modeled it, and the textbook says any student can do it</a:t>
            </a:r>
            <a:endParaRPr lang="en-US" sz="1350" dirty="0"/>
          </a:p>
        </p:txBody>
      </p:sp>
      <p:sp>
        <p:nvSpPr>
          <p:cNvPr id="4" name="Shape 2"/>
          <p:cNvSpPr/>
          <p:nvPr/>
        </p:nvSpPr>
        <p:spPr>
          <a:xfrm>
            <a:off x="548640" y="1572768"/>
            <a:ext cx="5440680" cy="2148840"/>
          </a:xfrm>
          <a:prstGeom prst="roundRect">
            <a:avLst>
              <a:gd name="adj" fmla="val 2553"/>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5" name="Shape 3"/>
          <p:cNvSpPr/>
          <p:nvPr/>
        </p:nvSpPr>
        <p:spPr>
          <a:xfrm>
            <a:off x="822960" y="1810512"/>
            <a:ext cx="457200" cy="457200"/>
          </a:xfrm>
          <a:prstGeom prst="ellipse">
            <a:avLst/>
          </a:prstGeom>
          <a:solidFill>
            <a:srgbClr val="BF5637"/>
          </a:solidFill>
          <a:ln w="12700">
            <a:solidFill>
              <a:srgbClr val="BF5637"/>
            </a:solidFill>
            <a:prstDash val="solid"/>
          </a:ln>
        </p:spPr>
      </p:sp>
      <p:sp>
        <p:nvSpPr>
          <p:cNvPr id="6" name="Text 4"/>
          <p:cNvSpPr/>
          <p:nvPr/>
        </p:nvSpPr>
        <p:spPr>
          <a:xfrm>
            <a:off x="822960" y="1810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1417320" y="1773936"/>
            <a:ext cx="4297680" cy="530352"/>
          </a:xfrm>
          <a:prstGeom prst="rect">
            <a:avLst/>
          </a:prstGeom>
          <a:noFill/>
          <a:ln/>
        </p:spPr>
        <p:txBody>
          <a:bodyPr wrap="square" lIns="0" tIns="0" rIns="0" bIns="0" rtlCol="0" anchor="t"/>
          <a:lstStyle/>
          <a:p>
            <a:pPr indent="0" marL="0">
              <a:lnSpc>
                <a:spcPct val="100000"/>
              </a:lnSpc>
              <a:buNone/>
            </a:pPr>
            <a:r>
              <a:rPr lang="en-US" sz="1500" b="1" dirty="0">
                <a:solidFill>
                  <a:srgbClr val="1E2761"/>
                </a:solidFill>
                <a:latin typeface="Cambria" pitchFamily="34" charset="0"/>
                <a:ea typeface="Cambria" pitchFamily="34" charset="-122"/>
                <a:cs typeface="Cambria" pitchFamily="34" charset="-120"/>
              </a:rPr>
              <a:t>Four popes broke new ground</a:t>
            </a:r>
            <a:endParaRPr lang="en-US" sz="1500" dirty="0"/>
          </a:p>
        </p:txBody>
      </p:sp>
      <p:sp>
        <p:nvSpPr>
          <p:cNvPr id="8" name="Text 6"/>
          <p:cNvSpPr/>
          <p:nvPr/>
        </p:nvSpPr>
        <p:spPr>
          <a:xfrm>
            <a:off x="822960" y="2377440"/>
            <a:ext cx="4892040" cy="1234440"/>
          </a:xfrm>
          <a:prstGeom prst="rect">
            <a:avLst/>
          </a:prstGeom>
          <a:noFill/>
          <a:ln/>
        </p:spPr>
        <p:txBody>
          <a:bodyPr wrap="square" lIns="0" tIns="0" rIns="0" bIns="0" rtlCol="0" anchor="t"/>
          <a:lstStyle/>
          <a:p>
            <a:pPr indent="0" marL="0">
              <a:lnSpc>
                <a:spcPct val="104000"/>
              </a:lnSpc>
              <a:buNone/>
            </a:pPr>
            <a:r>
              <a:rPr lang="en-US" sz="1050" dirty="0">
                <a:solidFill>
                  <a:srgbClr val="20242E"/>
                </a:solidFill>
                <a:latin typeface="Calibri" pitchFamily="34" charset="0"/>
                <a:ea typeface="Calibri" pitchFamily="34" charset="-122"/>
                <a:cs typeface="Calibri" pitchFamily="34" charset="-120"/>
              </a:rPr>
              <a:t>John XXIII invited Protestant, Anglican, Eastern Orthodox, and Jewish observers to Vatican II and had offensive language about Jewish people removed from the Good Friday liturgy. Paul VI met Patriarch Athenagoras I. John Paul II was the first pope since St. Peter to visit a synagogue and the first to visit a mosque, and he called religious leaders to Assisi to pray for peace. Francis signed the Document on Human Fraternity with the grand imam of Al-Azhar in 2019.</a:t>
            </a:r>
            <a:endParaRPr lang="en-US" sz="1050" dirty="0"/>
          </a:p>
        </p:txBody>
      </p:sp>
      <p:sp>
        <p:nvSpPr>
          <p:cNvPr id="9" name="Shape 7"/>
          <p:cNvSpPr/>
          <p:nvPr/>
        </p:nvSpPr>
        <p:spPr>
          <a:xfrm>
            <a:off x="6172200" y="1572768"/>
            <a:ext cx="5440680" cy="2148840"/>
          </a:xfrm>
          <a:prstGeom prst="roundRect">
            <a:avLst>
              <a:gd name="adj" fmla="val 2553"/>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0" name="Shape 8"/>
          <p:cNvSpPr/>
          <p:nvPr/>
        </p:nvSpPr>
        <p:spPr>
          <a:xfrm>
            <a:off x="6446520" y="1810512"/>
            <a:ext cx="457200" cy="457200"/>
          </a:xfrm>
          <a:prstGeom prst="ellipse">
            <a:avLst/>
          </a:prstGeom>
          <a:solidFill>
            <a:srgbClr val="1C7293"/>
          </a:solidFill>
          <a:ln w="12700">
            <a:solidFill>
              <a:srgbClr val="1C7293"/>
            </a:solidFill>
            <a:prstDash val="solid"/>
          </a:ln>
        </p:spPr>
      </p:sp>
      <p:sp>
        <p:nvSpPr>
          <p:cNvPr id="11" name="Text 9"/>
          <p:cNvSpPr/>
          <p:nvPr/>
        </p:nvSpPr>
        <p:spPr>
          <a:xfrm>
            <a:off x="6446520" y="1810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7040880" y="1773936"/>
            <a:ext cx="4297680" cy="530352"/>
          </a:xfrm>
          <a:prstGeom prst="rect">
            <a:avLst/>
          </a:prstGeom>
          <a:noFill/>
          <a:ln/>
        </p:spPr>
        <p:txBody>
          <a:bodyPr wrap="square" lIns="0" tIns="0" rIns="0" bIns="0" rtlCol="0" anchor="t"/>
          <a:lstStyle/>
          <a:p>
            <a:pPr indent="0" marL="0">
              <a:lnSpc>
                <a:spcPct val="100000"/>
              </a:lnSpc>
              <a:buNone/>
            </a:pPr>
            <a:r>
              <a:rPr lang="en-US" sz="1500" b="1" dirty="0">
                <a:solidFill>
                  <a:srgbClr val="1E2761"/>
                </a:solidFill>
                <a:latin typeface="Cambria" pitchFamily="34" charset="0"/>
                <a:ea typeface="Cambria" pitchFamily="34" charset="-122"/>
                <a:cs typeface="Cambria" pitchFamily="34" charset="-120"/>
              </a:rPr>
              <a:t>Dialogue in words, actions, or both</a:t>
            </a:r>
            <a:endParaRPr lang="en-US" sz="1500" dirty="0"/>
          </a:p>
        </p:txBody>
      </p:sp>
      <p:sp>
        <p:nvSpPr>
          <p:cNvPr id="13" name="Text 11"/>
          <p:cNvSpPr/>
          <p:nvPr/>
        </p:nvSpPr>
        <p:spPr>
          <a:xfrm>
            <a:off x="6446520" y="2377440"/>
            <a:ext cx="4892040" cy="1234440"/>
          </a:xfrm>
          <a:prstGeom prst="rect">
            <a:avLst/>
          </a:prstGeom>
          <a:noFill/>
          <a:ln/>
        </p:spPr>
        <p:txBody>
          <a:bodyPr wrap="square" lIns="0" tIns="0" rIns="0" bIns="0" rtlCol="0" anchor="t"/>
          <a:lstStyle/>
          <a:p>
            <a:pPr indent="0" marL="0">
              <a:lnSpc>
                <a:spcPct val="104000"/>
              </a:lnSpc>
              <a:buNone/>
            </a:pPr>
            <a:r>
              <a:rPr lang="en-US" sz="1050" dirty="0">
                <a:solidFill>
                  <a:srgbClr val="20242E"/>
                </a:solidFill>
                <a:latin typeface="Calibri" pitchFamily="34" charset="0"/>
                <a:ea typeface="Calibri" pitchFamily="34" charset="-122"/>
                <a:cs typeface="Calibri" pitchFamily="34" charset="-120"/>
              </a:rPr>
              <a:t>Youth groups from different traditions caring together for people displaced by disaster is a dialogue. Meeting socially and sharing experiences is a dialogue. So is classroom sharing about prayer, about God, about how families celebrate a religious festival, or about which symbols matter most in a tradition.</a:t>
            </a:r>
            <a:endParaRPr lang="en-US" sz="1050" dirty="0"/>
          </a:p>
        </p:txBody>
      </p:sp>
      <p:sp>
        <p:nvSpPr>
          <p:cNvPr id="14" name="Shape 12"/>
          <p:cNvSpPr/>
          <p:nvPr/>
        </p:nvSpPr>
        <p:spPr>
          <a:xfrm>
            <a:off x="548640" y="3858768"/>
            <a:ext cx="5440680" cy="2148840"/>
          </a:xfrm>
          <a:prstGeom prst="roundRect">
            <a:avLst>
              <a:gd name="adj" fmla="val 2553"/>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5" name="Shape 13"/>
          <p:cNvSpPr/>
          <p:nvPr/>
        </p:nvSpPr>
        <p:spPr>
          <a:xfrm>
            <a:off x="822960" y="4096512"/>
            <a:ext cx="457200" cy="457200"/>
          </a:xfrm>
          <a:prstGeom prst="ellipse">
            <a:avLst/>
          </a:prstGeom>
          <a:solidFill>
            <a:srgbClr val="C69A3E"/>
          </a:solidFill>
          <a:ln w="12700">
            <a:solidFill>
              <a:srgbClr val="C69A3E"/>
            </a:solidFill>
            <a:prstDash val="solid"/>
          </a:ln>
        </p:spPr>
      </p:sp>
      <p:sp>
        <p:nvSpPr>
          <p:cNvPr id="16" name="Text 14"/>
          <p:cNvSpPr/>
          <p:nvPr/>
        </p:nvSpPr>
        <p:spPr>
          <a:xfrm>
            <a:off x="822960" y="4096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1417320" y="4059936"/>
            <a:ext cx="4297680" cy="530352"/>
          </a:xfrm>
          <a:prstGeom prst="rect">
            <a:avLst/>
          </a:prstGeom>
          <a:noFill/>
          <a:ln/>
        </p:spPr>
        <p:txBody>
          <a:bodyPr wrap="square" lIns="0" tIns="0" rIns="0" bIns="0" rtlCol="0" anchor="t"/>
          <a:lstStyle/>
          <a:p>
            <a:pPr indent="0" marL="0">
              <a:lnSpc>
                <a:spcPct val="100000"/>
              </a:lnSpc>
              <a:buNone/>
            </a:pPr>
            <a:r>
              <a:rPr lang="en-US" sz="1500" b="1" dirty="0">
                <a:solidFill>
                  <a:srgbClr val="1E2761"/>
                </a:solidFill>
                <a:latin typeface="Cambria" pitchFamily="34" charset="0"/>
                <a:ea typeface="Cambria" pitchFamily="34" charset="-122"/>
                <a:cs typeface="Cambria" pitchFamily="34" charset="-120"/>
              </a:rPr>
              <a:t>You do not have to be an expert</a:t>
            </a:r>
            <a:endParaRPr lang="en-US" sz="1500" dirty="0"/>
          </a:p>
        </p:txBody>
      </p:sp>
      <p:sp>
        <p:nvSpPr>
          <p:cNvPr id="18" name="Text 16"/>
          <p:cNvSpPr/>
          <p:nvPr/>
        </p:nvSpPr>
        <p:spPr>
          <a:xfrm>
            <a:off x="822960" y="4663440"/>
            <a:ext cx="4892040" cy="1234440"/>
          </a:xfrm>
          <a:prstGeom prst="rect">
            <a:avLst/>
          </a:prstGeom>
          <a:noFill/>
          <a:ln/>
        </p:spPr>
        <p:txBody>
          <a:bodyPr wrap="square" lIns="0" tIns="0" rIns="0" bIns="0" rtlCol="0" anchor="t"/>
          <a:lstStyle/>
          <a:p>
            <a:pPr indent="0" marL="0">
              <a:lnSpc>
                <a:spcPct val="104000"/>
              </a:lnSpc>
              <a:buNone/>
            </a:pPr>
            <a:r>
              <a:rPr lang="en-US" sz="1050" dirty="0">
                <a:solidFill>
                  <a:srgbClr val="20242E"/>
                </a:solidFill>
                <a:latin typeface="Calibri" pitchFamily="34" charset="0"/>
                <a:ea typeface="Calibri" pitchFamily="34" charset="-122"/>
                <a:cs typeface="Calibri" pitchFamily="34" charset="-120"/>
              </a:rPr>
              <a:t>"You are not asked to be a specialist in every religious tradition in order to participate in interreligious dialogue. You only have to share your faith experiences and listen intently while others share theirs." The attitude to bring is empathy — the textbook paraphrases a Native American proverb: to walk a mile in the moccasins of another.</a:t>
            </a:r>
            <a:endParaRPr lang="en-US" sz="1050" dirty="0"/>
          </a:p>
        </p:txBody>
      </p:sp>
      <p:sp>
        <p:nvSpPr>
          <p:cNvPr id="19" name="Shape 17"/>
          <p:cNvSpPr/>
          <p:nvPr/>
        </p:nvSpPr>
        <p:spPr>
          <a:xfrm>
            <a:off x="6172200" y="3858768"/>
            <a:ext cx="5440680" cy="2148840"/>
          </a:xfrm>
          <a:prstGeom prst="roundRect">
            <a:avLst>
              <a:gd name="adj" fmla="val 2553"/>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20" name="Shape 18"/>
          <p:cNvSpPr/>
          <p:nvPr/>
        </p:nvSpPr>
        <p:spPr>
          <a:xfrm>
            <a:off x="6446520" y="4096512"/>
            <a:ext cx="457200" cy="457200"/>
          </a:xfrm>
          <a:prstGeom prst="ellipse">
            <a:avLst/>
          </a:prstGeom>
          <a:solidFill>
            <a:srgbClr val="1E2761"/>
          </a:solidFill>
          <a:ln w="12700">
            <a:solidFill>
              <a:srgbClr val="1E2761"/>
            </a:solidFill>
            <a:prstDash val="solid"/>
          </a:ln>
        </p:spPr>
      </p:sp>
      <p:sp>
        <p:nvSpPr>
          <p:cNvPr id="21" name="Text 19"/>
          <p:cNvSpPr/>
          <p:nvPr/>
        </p:nvSpPr>
        <p:spPr>
          <a:xfrm>
            <a:off x="6446520" y="40965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7040880" y="4059936"/>
            <a:ext cx="4297680" cy="530352"/>
          </a:xfrm>
          <a:prstGeom prst="rect">
            <a:avLst/>
          </a:prstGeom>
          <a:noFill/>
          <a:ln/>
        </p:spPr>
        <p:txBody>
          <a:bodyPr wrap="square" lIns="0" tIns="0" rIns="0" bIns="0" rtlCol="0" anchor="t"/>
          <a:lstStyle/>
          <a:p>
            <a:pPr indent="0" marL="0">
              <a:lnSpc>
                <a:spcPct val="100000"/>
              </a:lnSpc>
              <a:buNone/>
            </a:pPr>
            <a:r>
              <a:rPr lang="en-US" sz="1500" b="1" dirty="0">
                <a:solidFill>
                  <a:srgbClr val="1E2761"/>
                </a:solidFill>
                <a:latin typeface="Cambria" pitchFamily="34" charset="0"/>
                <a:ea typeface="Cambria" pitchFamily="34" charset="-122"/>
                <a:cs typeface="Cambria" pitchFamily="34" charset="-120"/>
              </a:rPr>
              <a:t>This class already counts</a:t>
            </a:r>
            <a:endParaRPr lang="en-US" sz="1500" dirty="0"/>
          </a:p>
        </p:txBody>
      </p:sp>
      <p:sp>
        <p:nvSpPr>
          <p:cNvPr id="23" name="Text 21"/>
          <p:cNvSpPr/>
          <p:nvPr/>
        </p:nvSpPr>
        <p:spPr>
          <a:xfrm>
            <a:off x="6446520" y="4663440"/>
            <a:ext cx="4892040" cy="1234440"/>
          </a:xfrm>
          <a:prstGeom prst="rect">
            <a:avLst/>
          </a:prstGeom>
          <a:noFill/>
          <a:ln/>
        </p:spPr>
        <p:txBody>
          <a:bodyPr wrap="square" lIns="0" tIns="0" rIns="0" bIns="0" rtlCol="0" anchor="t"/>
          <a:lstStyle/>
          <a:p>
            <a:pPr indent="0" marL="0">
              <a:lnSpc>
                <a:spcPct val="104000"/>
              </a:lnSpc>
              <a:buNone/>
            </a:pPr>
            <a:r>
              <a:rPr lang="en-US" sz="1050" dirty="0">
                <a:solidFill>
                  <a:srgbClr val="20242E"/>
                </a:solidFill>
                <a:latin typeface="Calibri" pitchFamily="34" charset="0"/>
                <a:ea typeface="Calibri" pitchFamily="34" charset="-122"/>
                <a:cs typeface="Calibri" pitchFamily="34" charset="-120"/>
              </a:rPr>
              <a:t>Chapter 1 ends the section plainly: "Of course, participating in this class is a form of dialogue with other religious traditions." The Church asks us to suspend judgment about a tradition's truth claims and accept the tradition on its own terms, while remaining humble, open, and respectful.</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65836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Common Elements or Patterns of Religious Traditions</a:t>
            </a:r>
            <a:endParaRPr lang="en-US" sz="2800" dirty="0"/>
          </a:p>
        </p:txBody>
      </p:sp>
      <p:sp>
        <p:nvSpPr>
          <p:cNvPr id="3" name="Text 1"/>
          <p:cNvSpPr/>
          <p:nvPr/>
        </p:nvSpPr>
        <p:spPr>
          <a:xfrm>
            <a:off x="640080" y="1042416"/>
            <a:ext cx="10972800" cy="310896"/>
          </a:xfrm>
          <a:prstGeom prst="rect">
            <a:avLst/>
          </a:prstGeom>
          <a:noFill/>
          <a:ln/>
        </p:spPr>
        <p:txBody>
          <a:bodyPr wrap="square" lIns="0" tIns="0" rIns="0" bIns="0" rtlCol="0" anchor="ctr"/>
          <a:lstStyle/>
          <a:p>
            <a:pPr indent="0" marL="0">
              <a:buNone/>
            </a:pPr>
            <a:r>
              <a:rPr lang="en-US" sz="1350" i="1" dirty="0">
                <a:solidFill>
                  <a:srgbClr val="5B6274"/>
                </a:solidFill>
                <a:latin typeface="Calibri" pitchFamily="34" charset="0"/>
                <a:ea typeface="Calibri" pitchFamily="34" charset="-122"/>
                <a:cs typeface="Calibri" pitchFamily="34" charset="-120"/>
              </a:rPr>
              <a:t>Part 2, Question 4 (a and b)</a:t>
            </a:r>
            <a:endParaRPr lang="en-US" sz="1350" dirty="0"/>
          </a:p>
        </p:txBody>
      </p:sp>
      <p:sp>
        <p:nvSpPr>
          <p:cNvPr id="4" name="Shape 2"/>
          <p:cNvSpPr/>
          <p:nvPr/>
        </p:nvSpPr>
        <p:spPr>
          <a:xfrm>
            <a:off x="548640" y="1600200"/>
            <a:ext cx="5440680" cy="4389120"/>
          </a:xfrm>
          <a:prstGeom prst="roundRect">
            <a:avLst>
              <a:gd name="adj" fmla="val 125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5" name="Shape 3"/>
          <p:cNvSpPr/>
          <p:nvPr/>
        </p:nvSpPr>
        <p:spPr>
          <a:xfrm>
            <a:off x="868680" y="1874520"/>
            <a:ext cx="530352" cy="530352"/>
          </a:xfrm>
          <a:prstGeom prst="ellipse">
            <a:avLst/>
          </a:prstGeom>
          <a:solidFill>
            <a:srgbClr val="BF5637"/>
          </a:solidFill>
          <a:ln w="12700">
            <a:solidFill>
              <a:srgbClr val="BF5637"/>
            </a:solidFill>
            <a:prstDash val="solid"/>
          </a:ln>
        </p:spPr>
      </p:sp>
      <p:sp>
        <p:nvSpPr>
          <p:cNvPr id="6" name="Text 4"/>
          <p:cNvSpPr/>
          <p:nvPr/>
        </p:nvSpPr>
        <p:spPr>
          <a:xfrm>
            <a:off x="868680" y="18745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7" name="Text 5"/>
          <p:cNvSpPr/>
          <p:nvPr/>
        </p:nvSpPr>
        <p:spPr>
          <a:xfrm>
            <a:off x="1508760" y="1828800"/>
            <a:ext cx="4206240" cy="621792"/>
          </a:xfrm>
          <a:prstGeom prst="rect">
            <a:avLst/>
          </a:prstGeom>
          <a:noFill/>
          <a:ln/>
        </p:spPr>
        <p:txBody>
          <a:bodyPr wrap="square" lIns="0" tIns="0" rIns="0" bIns="0" rtlCol="0" anchor="ctr"/>
          <a:lstStyle/>
          <a:p>
            <a:pPr indent="0" marL="0">
              <a:lnSpc>
                <a:spcPct val="95000"/>
              </a:lnSpc>
              <a:buNone/>
            </a:pPr>
            <a:r>
              <a:rPr lang="en-US" sz="1900" b="1" dirty="0">
                <a:solidFill>
                  <a:srgbClr val="1E2761"/>
                </a:solidFill>
                <a:latin typeface="Cambria" pitchFamily="34" charset="0"/>
                <a:ea typeface="Cambria" pitchFamily="34" charset="-122"/>
                <a:cs typeface="Cambria" pitchFamily="34" charset="-120"/>
              </a:rPr>
              <a:t>Sacred Stories and Sacred Scripture</a:t>
            </a:r>
            <a:endParaRPr lang="en-US" sz="1900" dirty="0"/>
          </a:p>
        </p:txBody>
      </p:sp>
      <p:sp>
        <p:nvSpPr>
          <p:cNvPr id="8" name="Text 6"/>
          <p:cNvSpPr/>
          <p:nvPr/>
        </p:nvSpPr>
        <p:spPr>
          <a:xfrm>
            <a:off x="868680" y="2578608"/>
            <a:ext cx="4800600" cy="3200400"/>
          </a:xfrm>
          <a:prstGeom prst="rect">
            <a:avLst/>
          </a:prstGeom>
          <a:noFill/>
          <a:ln/>
        </p:spPr>
        <p:txBody>
          <a:bodyPr wrap="square" lIns="0" tIns="0" rIns="0" bIns="0" rtlCol="0" anchor="t"/>
          <a:lstStyle/>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Most traditions have stories that tell how the world came to be, how humans, plants, and animals were created, why, and where we are going. The creation stories are the ones commonly called myths — truth stories that convey sacred truths.</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Certain core events become part of a tradition's sacred history: the birth of Muhammad, the Exodus, the death of Jesus. These are empirical history — verifiable from other sources.</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Stories were first passed on orally, then written down into what readers deem sacred scripture: the Upanishads, the Bhagavad Gita, the Holy Bible, the Qur'an. Some traditions call these inspired by God; others call them the exact word of God.</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Other sacred stories carry no scriptural authority — the Hadith, the lives of the saints, the stories of the rebbes — but all of them unite, preserve, and perpetuate a community, chiefly through ritual.</a:t>
            </a:r>
            <a:endParaRPr lang="en-US" sz="1100" dirty="0"/>
          </a:p>
        </p:txBody>
      </p:sp>
      <p:sp>
        <p:nvSpPr>
          <p:cNvPr id="9" name="Shape 7"/>
          <p:cNvSpPr/>
          <p:nvPr/>
        </p:nvSpPr>
        <p:spPr>
          <a:xfrm>
            <a:off x="6172200" y="1600200"/>
            <a:ext cx="5440680" cy="4389120"/>
          </a:xfrm>
          <a:prstGeom prst="roundRect">
            <a:avLst>
              <a:gd name="adj" fmla="val 125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0" name="Shape 8"/>
          <p:cNvSpPr/>
          <p:nvPr/>
        </p:nvSpPr>
        <p:spPr>
          <a:xfrm>
            <a:off x="6492240" y="1874520"/>
            <a:ext cx="530352" cy="530352"/>
          </a:xfrm>
          <a:prstGeom prst="ellipse">
            <a:avLst/>
          </a:prstGeom>
          <a:solidFill>
            <a:srgbClr val="1C7293"/>
          </a:solidFill>
          <a:ln w="12700">
            <a:solidFill>
              <a:srgbClr val="1C7293"/>
            </a:solidFill>
            <a:prstDash val="solid"/>
          </a:ln>
        </p:spPr>
      </p:sp>
      <p:sp>
        <p:nvSpPr>
          <p:cNvPr id="11" name="Text 9"/>
          <p:cNvSpPr/>
          <p:nvPr/>
        </p:nvSpPr>
        <p:spPr>
          <a:xfrm>
            <a:off x="6492240" y="18745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2" name="Text 10"/>
          <p:cNvSpPr/>
          <p:nvPr/>
        </p:nvSpPr>
        <p:spPr>
          <a:xfrm>
            <a:off x="7132320" y="1828800"/>
            <a:ext cx="4206240" cy="621792"/>
          </a:xfrm>
          <a:prstGeom prst="rect">
            <a:avLst/>
          </a:prstGeom>
          <a:noFill/>
          <a:ln/>
        </p:spPr>
        <p:txBody>
          <a:bodyPr wrap="square" lIns="0" tIns="0" rIns="0" bIns="0" rtlCol="0" anchor="ctr"/>
          <a:lstStyle/>
          <a:p>
            <a:pPr indent="0" marL="0">
              <a:lnSpc>
                <a:spcPct val="95000"/>
              </a:lnSpc>
              <a:buNone/>
            </a:pPr>
            <a:r>
              <a:rPr lang="en-US" sz="1900" b="1" dirty="0">
                <a:solidFill>
                  <a:srgbClr val="1E2761"/>
                </a:solidFill>
                <a:latin typeface="Cambria" pitchFamily="34" charset="0"/>
                <a:ea typeface="Cambria" pitchFamily="34" charset="-122"/>
                <a:cs typeface="Cambria" pitchFamily="34" charset="-120"/>
              </a:rPr>
              <a:t>Beliefs and Practices</a:t>
            </a:r>
            <a:endParaRPr lang="en-US" sz="1900" dirty="0"/>
          </a:p>
        </p:txBody>
      </p:sp>
      <p:sp>
        <p:nvSpPr>
          <p:cNvPr id="13" name="Text 11"/>
          <p:cNvSpPr/>
          <p:nvPr/>
        </p:nvSpPr>
        <p:spPr>
          <a:xfrm>
            <a:off x="6492240" y="2578608"/>
            <a:ext cx="4800600" cy="3200400"/>
          </a:xfrm>
          <a:prstGeom prst="rect">
            <a:avLst/>
          </a:prstGeom>
          <a:noFill/>
          <a:ln/>
        </p:spPr>
        <p:txBody>
          <a:bodyPr wrap="square" lIns="0" tIns="0" rIns="0" bIns="0" rtlCol="0" anchor="t"/>
          <a:lstStyle/>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Not every tradition has a formal set of beliefs, but each holds certain truths that separate it from the others: the Four Noble Truths and Noble Eightfold Path, the Apostles' Creed, the Sh'ma, the Shahadah.</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Believers act out their beliefs vertically and horizontally — the vertical is how adherents relate to the divine, the horizontal is how they relate to other believers and to nonbelievers.</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Practices may be personal (prayer, meditation, ritual washing) or communal (sacrifice, pilgrimage, a sacred meal). The more formal the ritual, the more likely it rests on a sacred story — God's command to remember the Exodus produced Passover.</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Each tradition has a moral code, written or unwritten, that lays out expected conduct. Some emphasize behavior over belief and others belief over behavior, and for many, behavior determines the next life or eternal life.</a:t>
            </a:r>
            <a:endParaRPr lang="en-US" sz="1100" dirty="0"/>
          </a:p>
        </p:txBody>
      </p:sp>
      <p:sp>
        <p:nvSpPr>
          <p:cNvPr id="14" name="Text 12"/>
          <p:cNvSpPr/>
          <p:nvPr/>
        </p:nvSpPr>
        <p:spPr>
          <a:xfrm>
            <a:off x="640080" y="6327648"/>
            <a:ext cx="10881360" cy="274320"/>
          </a:xfrm>
          <a:prstGeom prst="rect">
            <a:avLst/>
          </a:prstGeom>
          <a:noFill/>
          <a:ln/>
        </p:spPr>
        <p:txBody>
          <a:bodyPr wrap="square" lIns="0" tIns="0" rIns="0" bIns="0" rtlCol="0" anchor="ctr"/>
          <a:lstStyle/>
          <a:p>
            <a:pPr indent="0" marL="0">
              <a:buNone/>
            </a:pPr>
            <a:r>
              <a:rPr lang="en-US" sz="1000" dirty="0">
                <a:solidFill>
                  <a:srgbClr val="5B6274"/>
                </a:solidFill>
                <a:latin typeface="Calibri" pitchFamily="34" charset="0"/>
                <a:ea typeface="Calibri" pitchFamily="34" charset="-122"/>
                <a:cs typeface="Calibri" pitchFamily="34" charset="-120"/>
              </a:rPr>
              <a:t>The textbook studies "what a religion is" rather than "what is religion" — these elements overlap.</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65760"/>
            <a:ext cx="10972800" cy="658368"/>
          </a:xfrm>
          <a:prstGeom prst="rect">
            <a:avLst/>
          </a:prstGeom>
          <a:noFill/>
          <a:ln/>
        </p:spPr>
        <p:txBody>
          <a:bodyPr wrap="square" lIns="0" tIns="0" rIns="0" bIns="0" rtlCol="0" anchor="ctr"/>
          <a:lstStyle/>
          <a:p>
            <a:pPr indent="0" marL="0">
              <a:buNone/>
            </a:pPr>
            <a:r>
              <a:rPr lang="en-US" sz="2800" b="1" dirty="0">
                <a:solidFill>
                  <a:srgbClr val="1E2761"/>
                </a:solidFill>
                <a:latin typeface="Cambria" pitchFamily="34" charset="0"/>
                <a:ea typeface="Cambria" pitchFamily="34" charset="-122"/>
                <a:cs typeface="Cambria" pitchFamily="34" charset="-120"/>
              </a:rPr>
              <a:t>Common Elements or Patterns of Religious Traditions</a:t>
            </a:r>
            <a:endParaRPr lang="en-US" sz="2800" dirty="0"/>
          </a:p>
        </p:txBody>
      </p:sp>
      <p:sp>
        <p:nvSpPr>
          <p:cNvPr id="3" name="Text 1"/>
          <p:cNvSpPr/>
          <p:nvPr/>
        </p:nvSpPr>
        <p:spPr>
          <a:xfrm>
            <a:off x="640080" y="1042416"/>
            <a:ext cx="10972800" cy="310896"/>
          </a:xfrm>
          <a:prstGeom prst="rect">
            <a:avLst/>
          </a:prstGeom>
          <a:noFill/>
          <a:ln/>
        </p:spPr>
        <p:txBody>
          <a:bodyPr wrap="square" lIns="0" tIns="0" rIns="0" bIns="0" rtlCol="0" anchor="ctr"/>
          <a:lstStyle/>
          <a:p>
            <a:pPr indent="0" marL="0">
              <a:buNone/>
            </a:pPr>
            <a:r>
              <a:rPr lang="en-US" sz="1350" i="1" dirty="0">
                <a:solidFill>
                  <a:srgbClr val="5B6274"/>
                </a:solidFill>
                <a:latin typeface="Calibri" pitchFamily="34" charset="0"/>
                <a:ea typeface="Calibri" pitchFamily="34" charset="-122"/>
                <a:cs typeface="Calibri" pitchFamily="34" charset="-120"/>
              </a:rPr>
              <a:t>Part 2, Question 4 (c and d)</a:t>
            </a:r>
            <a:endParaRPr lang="en-US" sz="1350" dirty="0"/>
          </a:p>
        </p:txBody>
      </p:sp>
      <p:sp>
        <p:nvSpPr>
          <p:cNvPr id="4" name="Shape 2"/>
          <p:cNvSpPr/>
          <p:nvPr/>
        </p:nvSpPr>
        <p:spPr>
          <a:xfrm>
            <a:off x="548640" y="1600200"/>
            <a:ext cx="5440680" cy="4389120"/>
          </a:xfrm>
          <a:prstGeom prst="roundRect">
            <a:avLst>
              <a:gd name="adj" fmla="val 125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5" name="Shape 3"/>
          <p:cNvSpPr/>
          <p:nvPr/>
        </p:nvSpPr>
        <p:spPr>
          <a:xfrm>
            <a:off x="868680" y="1874520"/>
            <a:ext cx="530352" cy="530352"/>
          </a:xfrm>
          <a:prstGeom prst="ellipse">
            <a:avLst/>
          </a:prstGeom>
          <a:solidFill>
            <a:srgbClr val="C69A3E"/>
          </a:solidFill>
          <a:ln w="12700">
            <a:solidFill>
              <a:srgbClr val="C69A3E"/>
            </a:solidFill>
            <a:prstDash val="solid"/>
          </a:ln>
        </p:spPr>
      </p:sp>
      <p:sp>
        <p:nvSpPr>
          <p:cNvPr id="6" name="Text 4"/>
          <p:cNvSpPr/>
          <p:nvPr/>
        </p:nvSpPr>
        <p:spPr>
          <a:xfrm>
            <a:off x="868680" y="18745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7" name="Text 5"/>
          <p:cNvSpPr/>
          <p:nvPr/>
        </p:nvSpPr>
        <p:spPr>
          <a:xfrm>
            <a:off x="1508760" y="1828800"/>
            <a:ext cx="4206240" cy="621792"/>
          </a:xfrm>
          <a:prstGeom prst="rect">
            <a:avLst/>
          </a:prstGeom>
          <a:noFill/>
          <a:ln/>
        </p:spPr>
        <p:txBody>
          <a:bodyPr wrap="square" lIns="0" tIns="0" rIns="0" bIns="0" rtlCol="0" anchor="ctr"/>
          <a:lstStyle/>
          <a:p>
            <a:pPr indent="0" marL="0">
              <a:lnSpc>
                <a:spcPct val="95000"/>
              </a:lnSpc>
              <a:buNone/>
            </a:pPr>
            <a:r>
              <a:rPr lang="en-US" sz="1900" b="1" dirty="0">
                <a:solidFill>
                  <a:srgbClr val="1E2761"/>
                </a:solidFill>
                <a:latin typeface="Cambria" pitchFamily="34" charset="0"/>
                <a:ea typeface="Cambria" pitchFamily="34" charset="-122"/>
                <a:cs typeface="Cambria" pitchFamily="34" charset="-120"/>
              </a:rPr>
              <a:t>Sacred Time</a:t>
            </a:r>
            <a:endParaRPr lang="en-US" sz="1900" dirty="0"/>
          </a:p>
        </p:txBody>
      </p:sp>
      <p:sp>
        <p:nvSpPr>
          <p:cNvPr id="8" name="Text 6"/>
          <p:cNvSpPr/>
          <p:nvPr/>
        </p:nvSpPr>
        <p:spPr>
          <a:xfrm>
            <a:off x="868680" y="2578608"/>
            <a:ext cx="4800600" cy="3200400"/>
          </a:xfrm>
          <a:prstGeom prst="rect">
            <a:avLst/>
          </a:prstGeom>
          <a:noFill/>
          <a:ln/>
        </p:spPr>
        <p:txBody>
          <a:bodyPr wrap="square" lIns="0" tIns="0" rIns="0" bIns="0" rtlCol="0" anchor="t"/>
          <a:lstStyle/>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Most traditions consider all time sacred, but they mark particular times when certain actions or attitudes give greater focus to the sacred.</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Ritual seems to transport a person or community from ordinary time into sacred time; it also reminds participants that all time is sacred. Sacred time is timeless — it draws the past and the future into the present so adherents can celebrate the now.</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Weekly observances are formal: Friday for Muslims, Saturday for Jews, Sunday for Christians. Annual fasts for spiritual renewal include Ramadan, Yom Kippur, and Lent.</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Festivals such as Bodhi Day, Guru Gobind Singh's birthday, and Diwali give a sense of belonging and an opportunity for recommitment and renewal. Rites of passage — birth, coming of age, marriage, and death — are sacred times too.</a:t>
            </a:r>
            <a:endParaRPr lang="en-US" sz="1100" dirty="0"/>
          </a:p>
        </p:txBody>
      </p:sp>
      <p:sp>
        <p:nvSpPr>
          <p:cNvPr id="9" name="Shape 7"/>
          <p:cNvSpPr/>
          <p:nvPr/>
        </p:nvSpPr>
        <p:spPr>
          <a:xfrm>
            <a:off x="6172200" y="1600200"/>
            <a:ext cx="5440680" cy="4389120"/>
          </a:xfrm>
          <a:prstGeom prst="roundRect">
            <a:avLst>
              <a:gd name="adj" fmla="val 1250"/>
            </a:avLst>
          </a:prstGeom>
          <a:solidFill>
            <a:srgbClr val="F0F2F8"/>
          </a:solidFill>
          <a:ln w="12700">
            <a:solidFill>
              <a:srgbClr val="F0F2F8"/>
            </a:solidFill>
            <a:prstDash val="solid"/>
          </a:ln>
          <a:effectLst>
            <a:outerShdw sx="100000" sy="100000" kx="0" ky="0" algn="bl" rotWithShape="0" blurRad="127000" dist="25400" dir="5400000">
              <a:srgbClr val="9AA1B5">
                <a:alpha val="30000"/>
              </a:srgbClr>
            </a:outerShdw>
          </a:effectLst>
        </p:spPr>
      </p:sp>
      <p:sp>
        <p:nvSpPr>
          <p:cNvPr id="10" name="Shape 8"/>
          <p:cNvSpPr/>
          <p:nvPr/>
        </p:nvSpPr>
        <p:spPr>
          <a:xfrm>
            <a:off x="6492240" y="1874520"/>
            <a:ext cx="530352" cy="530352"/>
          </a:xfrm>
          <a:prstGeom prst="ellipse">
            <a:avLst/>
          </a:prstGeom>
          <a:solidFill>
            <a:srgbClr val="1E2761"/>
          </a:solidFill>
          <a:ln w="12700">
            <a:solidFill>
              <a:srgbClr val="1E2761"/>
            </a:solidFill>
            <a:prstDash val="solid"/>
          </a:ln>
        </p:spPr>
      </p:sp>
      <p:sp>
        <p:nvSpPr>
          <p:cNvPr id="11" name="Text 9"/>
          <p:cNvSpPr/>
          <p:nvPr/>
        </p:nvSpPr>
        <p:spPr>
          <a:xfrm>
            <a:off x="6492240" y="1874520"/>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d</a:t>
            </a:r>
            <a:endParaRPr lang="en-US" sz="1600" dirty="0"/>
          </a:p>
        </p:txBody>
      </p:sp>
      <p:sp>
        <p:nvSpPr>
          <p:cNvPr id="12" name="Text 10"/>
          <p:cNvSpPr/>
          <p:nvPr/>
        </p:nvSpPr>
        <p:spPr>
          <a:xfrm>
            <a:off x="7132320" y="1828800"/>
            <a:ext cx="4206240" cy="621792"/>
          </a:xfrm>
          <a:prstGeom prst="rect">
            <a:avLst/>
          </a:prstGeom>
          <a:noFill/>
          <a:ln/>
        </p:spPr>
        <p:txBody>
          <a:bodyPr wrap="square" lIns="0" tIns="0" rIns="0" bIns="0" rtlCol="0" anchor="ctr"/>
          <a:lstStyle/>
          <a:p>
            <a:pPr indent="0" marL="0">
              <a:lnSpc>
                <a:spcPct val="95000"/>
              </a:lnSpc>
              <a:buNone/>
            </a:pPr>
            <a:r>
              <a:rPr lang="en-US" sz="1900" b="1" dirty="0">
                <a:solidFill>
                  <a:srgbClr val="1E2761"/>
                </a:solidFill>
                <a:latin typeface="Cambria" pitchFamily="34" charset="0"/>
                <a:ea typeface="Cambria" pitchFamily="34" charset="-122"/>
                <a:cs typeface="Cambria" pitchFamily="34" charset="-120"/>
              </a:rPr>
              <a:t>Sacred Places and Sacred Spaces</a:t>
            </a:r>
            <a:endParaRPr lang="en-US" sz="1900" dirty="0"/>
          </a:p>
        </p:txBody>
      </p:sp>
      <p:sp>
        <p:nvSpPr>
          <p:cNvPr id="13" name="Text 11"/>
          <p:cNvSpPr/>
          <p:nvPr/>
        </p:nvSpPr>
        <p:spPr>
          <a:xfrm>
            <a:off x="6492240" y="2578608"/>
            <a:ext cx="4800600" cy="3200400"/>
          </a:xfrm>
          <a:prstGeom prst="rect">
            <a:avLst/>
          </a:prstGeom>
          <a:noFill/>
          <a:ln/>
        </p:spPr>
        <p:txBody>
          <a:bodyPr wrap="square" lIns="0" tIns="0" rIns="0" bIns="0" rtlCol="0" anchor="t"/>
          <a:lstStyle/>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Sacred time can be observed anywhere, but it is often experienced at a sacred place or in a sacred space.</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Places where a tradition began or where its founder traveled become sacred: Mecca and Medina for Muslims, and the region of Palestine, which Christians call the Holy Land.</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Places in nature are sacred too — the Jordan River for Christians, the Ganges for Hindus, Mount Sinai for Jews, Mount Fuji for practitioners of Shinto, the indigenous religious tradition of Japan.</a:t>
            </a:r>
            <a:endParaRPr lang="en-US" sz="1100" dirty="0"/>
          </a:p>
          <a:p>
            <a:pPr marL="342900" indent="-342900">
              <a:lnSpc>
                <a:spcPct val="104000"/>
              </a:lnSpc>
              <a:spcAft>
                <a:spcPts val="700"/>
              </a:spcAft>
              <a:buSzPct val="100000"/>
              <a:buChar char="•"/>
            </a:pPr>
            <a:r>
              <a:rPr lang="en-US" sz="1100" dirty="0">
                <a:solidFill>
                  <a:srgbClr val="20242E"/>
                </a:solidFill>
                <a:latin typeface="Calibri" pitchFamily="34" charset="0"/>
                <a:ea typeface="Calibri" pitchFamily="34" charset="-122"/>
                <a:cs typeface="Calibri" pitchFamily="34" charset="-120"/>
              </a:rPr>
              <a:t>Shrines, temples, churches, mosques, and synagogues are all sacred spaces, and ordinary places can become temporary sacred spaces: a gym or a large tent can be converted into one.</a:t>
            </a:r>
            <a:endParaRPr lang="en-US" sz="1100" dirty="0"/>
          </a:p>
        </p:txBody>
      </p:sp>
      <p:sp>
        <p:nvSpPr>
          <p:cNvPr id="14" name="Text 12"/>
          <p:cNvSpPr/>
          <p:nvPr/>
        </p:nvSpPr>
        <p:spPr>
          <a:xfrm>
            <a:off x="640080" y="6327648"/>
            <a:ext cx="10881360" cy="274320"/>
          </a:xfrm>
          <a:prstGeom prst="rect">
            <a:avLst/>
          </a:prstGeom>
          <a:noFill/>
          <a:ln/>
        </p:spPr>
        <p:txBody>
          <a:bodyPr wrap="square" lIns="0" tIns="0" rIns="0" bIns="0" rtlCol="0" anchor="ctr"/>
          <a:lstStyle/>
          <a:p>
            <a:pPr indent="0" marL="0">
              <a:buNone/>
            </a:pPr>
            <a:r>
              <a:rPr lang="en-US" sz="1000" dirty="0">
                <a:solidFill>
                  <a:srgbClr val="5B6274"/>
                </a:solidFill>
                <a:latin typeface="Calibri" pitchFamily="34" charset="0"/>
                <a:ea typeface="Calibri" pitchFamily="34" charset="-122"/>
                <a:cs typeface="Calibri" pitchFamily="34" charset="-120"/>
              </a:rPr>
              <a:t>Other elements in common: sacred symbols and objects, laws such as shari'ah and halakhah, institutional structure, and holy people.</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8778240" y="3840480"/>
            <a:ext cx="4937760" cy="4937760"/>
          </a:xfrm>
          <a:prstGeom prst="ellipse">
            <a:avLst/>
          </a:prstGeom>
          <a:solidFill>
            <a:srgbClr val="141A44"/>
          </a:solidFill>
          <a:ln w="12700">
            <a:solidFill>
              <a:srgbClr val="141A44"/>
            </a:solidFill>
            <a:prstDash val="solid"/>
          </a:ln>
        </p:spPr>
      </p:sp>
      <p:sp>
        <p:nvSpPr>
          <p:cNvPr id="3" name="Text 1"/>
          <p:cNvSpPr/>
          <p:nvPr/>
        </p:nvSpPr>
        <p:spPr>
          <a:xfrm>
            <a:off x="685800" y="548640"/>
            <a:ext cx="1078992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Bringing It Together</a:t>
            </a:r>
            <a:endParaRPr lang="en-US" sz="3200" dirty="0"/>
          </a:p>
        </p:txBody>
      </p:sp>
      <p:sp>
        <p:nvSpPr>
          <p:cNvPr id="4" name="Text 2"/>
          <p:cNvSpPr/>
          <p:nvPr/>
        </p:nvSpPr>
        <p:spPr>
          <a:xfrm>
            <a:off x="685800" y="1188720"/>
            <a:ext cx="10789920" cy="320040"/>
          </a:xfrm>
          <a:prstGeom prst="rect">
            <a:avLst/>
          </a:prstGeom>
          <a:noFill/>
          <a:ln/>
        </p:spPr>
        <p:txBody>
          <a:bodyPr wrap="square" lIns="0" tIns="0" rIns="0" bIns="0" rtlCol="0" anchor="ctr"/>
          <a:lstStyle/>
          <a:p>
            <a:pPr indent="0" marL="0">
              <a:buNone/>
            </a:pPr>
            <a:r>
              <a:rPr lang="en-US" sz="1400" i="1" dirty="0">
                <a:solidFill>
                  <a:srgbClr val="C69A3E"/>
                </a:solidFill>
                <a:latin typeface="Calibri" pitchFamily="34" charset="0"/>
                <a:ea typeface="Calibri" pitchFamily="34" charset="-122"/>
                <a:cs typeface="Calibri" pitchFamily="34" charset="-120"/>
              </a:rPr>
              <a:t>Chapter 1 summary — "Beginning the Journey"</a:t>
            </a:r>
            <a:endParaRPr lang="en-US" sz="1400" dirty="0"/>
          </a:p>
        </p:txBody>
      </p:sp>
      <p:sp>
        <p:nvSpPr>
          <p:cNvPr id="5" name="Text 3"/>
          <p:cNvSpPr/>
          <p:nvPr/>
        </p:nvSpPr>
        <p:spPr>
          <a:xfrm>
            <a:off x="685800" y="1783080"/>
            <a:ext cx="6400800" cy="3840480"/>
          </a:xfrm>
          <a:prstGeom prst="rect">
            <a:avLst/>
          </a:prstGeom>
          <a:noFill/>
          <a:ln/>
        </p:spPr>
        <p:txBody>
          <a:bodyPr wrap="square" lIns="0" tIns="0" rIns="0" bIns="0" rtlCol="0" anchor="t"/>
          <a:lstStyle/>
          <a:p>
            <a:pPr marL="342900" indent="-342900">
              <a:lnSpc>
                <a:spcPct val="106000"/>
              </a:lnSpc>
              <a:spcAft>
                <a:spcPts val="1100"/>
              </a:spcAft>
              <a:buSzPct val="100000"/>
              <a:buChar char="•"/>
            </a:pPr>
            <a:r>
              <a:rPr lang="en-US" sz="1350" dirty="0">
                <a:solidFill>
                  <a:srgbClr val="D8DDEE"/>
                </a:solidFill>
                <a:latin typeface="Calibri" pitchFamily="34" charset="0"/>
                <a:ea typeface="Calibri" pitchFamily="34" charset="-122"/>
                <a:cs typeface="Calibri" pitchFamily="34" charset="-120"/>
              </a:rPr>
              <a:t>Religious diversity abounds, and a major task for a Catholic is to grow as a Catholic amid that diversity.</a:t>
            </a:r>
            <a:endParaRPr lang="en-US" sz="1350" dirty="0"/>
          </a:p>
          <a:p>
            <a:pPr marL="342900" indent="-342900">
              <a:lnSpc>
                <a:spcPct val="106000"/>
              </a:lnSpc>
              <a:spcAft>
                <a:spcPts val="1100"/>
              </a:spcAft>
              <a:buSzPct val="100000"/>
              <a:buChar char="•"/>
            </a:pPr>
            <a:r>
              <a:rPr lang="en-US" sz="1350" dirty="0">
                <a:solidFill>
                  <a:srgbClr val="D8DDEE"/>
                </a:solidFill>
                <a:latin typeface="Calibri" pitchFamily="34" charset="0"/>
                <a:ea typeface="Calibri" pitchFamily="34" charset="-122"/>
                <a:cs typeface="Calibri" pitchFamily="34" charset="-120"/>
              </a:rPr>
              <a:t>World religions are worldwide traditions; the world's religions include traditions of great significance that are less widespread.</a:t>
            </a:r>
            <a:endParaRPr lang="en-US" sz="1350" dirty="0"/>
          </a:p>
          <a:p>
            <a:pPr marL="342900" indent="-342900">
              <a:lnSpc>
                <a:spcPct val="106000"/>
              </a:lnSpc>
              <a:spcAft>
                <a:spcPts val="1100"/>
              </a:spcAft>
              <a:buSzPct val="100000"/>
              <a:buChar char="•"/>
            </a:pPr>
            <a:r>
              <a:rPr lang="en-US" sz="1350" dirty="0">
                <a:solidFill>
                  <a:srgbClr val="D8DDEE"/>
                </a:solidFill>
                <a:latin typeface="Calibri" pitchFamily="34" charset="0"/>
                <a:ea typeface="Calibri" pitchFamily="34" charset="-122"/>
                <a:cs typeface="Calibri" pitchFamily="34" charset="-120"/>
              </a:rPr>
              <a:t>Religion is difficult to define, but its root word means "to bind."</a:t>
            </a:r>
            <a:endParaRPr lang="en-US" sz="1350" dirty="0"/>
          </a:p>
          <a:p>
            <a:pPr marL="342900" indent="-342900">
              <a:lnSpc>
                <a:spcPct val="106000"/>
              </a:lnSpc>
              <a:spcAft>
                <a:spcPts val="1100"/>
              </a:spcAft>
              <a:buSzPct val="100000"/>
              <a:buChar char="•"/>
            </a:pPr>
            <a:r>
              <a:rPr lang="en-US" sz="1350" dirty="0">
                <a:solidFill>
                  <a:srgbClr val="D8DDEE"/>
                </a:solidFill>
                <a:latin typeface="Calibri" pitchFamily="34" charset="0"/>
                <a:ea typeface="Calibri" pitchFamily="34" charset="-122"/>
                <a:cs typeface="Calibri" pitchFamily="34" charset="-120"/>
              </a:rPr>
              <a:t>Empathy is the attitude to cultivate — walk a mile in the moccasins of another.</a:t>
            </a:r>
            <a:endParaRPr lang="en-US" sz="1350" dirty="0"/>
          </a:p>
          <a:p>
            <a:pPr marL="342900" indent="-342900">
              <a:lnSpc>
                <a:spcPct val="106000"/>
              </a:lnSpc>
              <a:spcAft>
                <a:spcPts val="1100"/>
              </a:spcAft>
              <a:buSzPct val="100000"/>
              <a:buChar char="•"/>
            </a:pPr>
            <a:r>
              <a:rPr lang="en-US" sz="1350" dirty="0">
                <a:solidFill>
                  <a:srgbClr val="D8DDEE"/>
                </a:solidFill>
                <a:latin typeface="Calibri" pitchFamily="34" charset="0"/>
                <a:ea typeface="Calibri" pitchFamily="34" charset="-122"/>
                <a:cs typeface="Calibri" pitchFamily="34" charset="-120"/>
              </a:rPr>
              <a:t>Interreligious dialogue is the duty of all Catholics, because it belongs to the Church's mission of evangelization.</a:t>
            </a:r>
            <a:endParaRPr lang="en-US" sz="1350" dirty="0"/>
          </a:p>
          <a:p>
            <a:pPr marL="342900" indent="-342900">
              <a:lnSpc>
                <a:spcPct val="106000"/>
              </a:lnSpc>
              <a:spcAft>
                <a:spcPts val="1100"/>
              </a:spcAft>
              <a:buSzPct val="100000"/>
              <a:buChar char="•"/>
            </a:pPr>
            <a:r>
              <a:rPr lang="en-US" sz="1350" dirty="0">
                <a:solidFill>
                  <a:srgbClr val="D8DDEE"/>
                </a:solidFill>
                <a:latin typeface="Calibri" pitchFamily="34" charset="0"/>
                <a:ea typeface="Calibri" pitchFamily="34" charset="-122"/>
                <a:cs typeface="Calibri" pitchFamily="34" charset="-120"/>
              </a:rPr>
              <a:t>Four common elements describe any tradition: sacred stories and scripture, beliefs and practices, sacred time, and sacred places and spaces.</a:t>
            </a:r>
            <a:endParaRPr lang="en-US" sz="1350" dirty="0"/>
          </a:p>
        </p:txBody>
      </p:sp>
      <p:sp>
        <p:nvSpPr>
          <p:cNvPr id="6" name="Shape 4"/>
          <p:cNvSpPr/>
          <p:nvPr/>
        </p:nvSpPr>
        <p:spPr>
          <a:xfrm>
            <a:off x="7452360" y="1783080"/>
            <a:ext cx="4023360" cy="3840480"/>
          </a:xfrm>
          <a:prstGeom prst="roundRect">
            <a:avLst>
              <a:gd name="adj" fmla="val 1429"/>
            </a:avLst>
          </a:prstGeom>
          <a:solidFill>
            <a:srgbClr val="141A44"/>
          </a:solidFill>
          <a:ln w="12700">
            <a:solidFill>
              <a:srgbClr val="141A44"/>
            </a:solidFill>
            <a:prstDash val="solid"/>
          </a:ln>
        </p:spPr>
      </p:sp>
      <p:sp>
        <p:nvSpPr>
          <p:cNvPr id="7" name="Shape 5"/>
          <p:cNvSpPr/>
          <p:nvPr/>
        </p:nvSpPr>
        <p:spPr>
          <a:xfrm>
            <a:off x="7772400" y="2057400"/>
            <a:ext cx="457200" cy="457200"/>
          </a:xfrm>
          <a:prstGeom prst="ellipse">
            <a:avLst/>
          </a:prstGeom>
          <a:solidFill>
            <a:srgbClr val="BF5637"/>
          </a:solidFill>
          <a:ln w="12700">
            <a:solidFill>
              <a:srgbClr val="BF5637"/>
            </a:solidFill>
            <a:prstDash val="solid"/>
          </a:ln>
        </p:spPr>
      </p:sp>
      <p:sp>
        <p:nvSpPr>
          <p:cNvPr id="8" name="Text 6"/>
          <p:cNvSpPr/>
          <p:nvPr/>
        </p:nvSpPr>
        <p:spPr>
          <a:xfrm>
            <a:off x="7772400" y="20574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9" name="Text 7"/>
          <p:cNvSpPr/>
          <p:nvPr/>
        </p:nvSpPr>
        <p:spPr>
          <a:xfrm>
            <a:off x="8366760" y="2029968"/>
            <a:ext cx="2834640" cy="32004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Peace Prayer</a:t>
            </a:r>
            <a:endParaRPr lang="en-US" sz="1600" dirty="0"/>
          </a:p>
        </p:txBody>
      </p:sp>
      <p:sp>
        <p:nvSpPr>
          <p:cNvPr id="10" name="Text 8"/>
          <p:cNvSpPr/>
          <p:nvPr/>
        </p:nvSpPr>
        <p:spPr>
          <a:xfrm>
            <a:off x="7772400" y="2514600"/>
            <a:ext cx="3429000" cy="2880360"/>
          </a:xfrm>
          <a:prstGeom prst="rect">
            <a:avLst/>
          </a:prstGeom>
          <a:noFill/>
          <a:ln/>
        </p:spPr>
        <p:txBody>
          <a:bodyPr wrap="square" lIns="0" tIns="0" rIns="0" bIns="0" rtlCol="0" anchor="t"/>
          <a:lstStyle/>
          <a:p>
            <a:pPr indent="0" marL="0">
              <a:lnSpc>
                <a:spcPct val="108000"/>
              </a:lnSpc>
              <a:buNone/>
            </a:pPr>
            <a:r>
              <a:rPr lang="en-US" sz="1150" i="1" dirty="0">
                <a:solidFill>
                  <a:srgbClr val="C7CDE4"/>
                </a:solidFill>
                <a:latin typeface="Calibri" pitchFamily="34" charset="0"/>
                <a:ea typeface="Calibri" pitchFamily="34" charset="-122"/>
                <a:cs typeface="Calibri" pitchFamily="34" charset="-120"/>
              </a:rPr>
              <a:t>Chapter 1 closes with the prayer attributed to St. Francis — one the textbook says adherents of most religious traditions would be comfortable praying:</a:t>
            </a:r>
            <a:endParaRPr lang="en-US" sz="1150" dirty="0"/>
          </a:p>
          <a:p>
            <a:pPr indent="0" marL="0">
              <a:lnSpc>
                <a:spcPct val="108000"/>
              </a:lnSpc>
              <a:buNone/>
            </a:pPr>
            <a:endParaRPr lang="en-US" sz="1150" dirty="0"/>
          </a:p>
          <a:p>
            <a:pPr indent="0" marL="0">
              <a:lnSpc>
                <a:spcPct val="108000"/>
              </a:lnSpc>
              <a:buNone/>
            </a:pPr>
            <a:r>
              <a:rPr lang="en-US" sz="1150" i="1" dirty="0">
                <a:solidFill>
                  <a:srgbClr val="C7CDE4"/>
                </a:solidFill>
                <a:latin typeface="Calibri" pitchFamily="34" charset="0"/>
                <a:ea typeface="Calibri" pitchFamily="34" charset="-122"/>
                <a:cs typeface="Calibri" pitchFamily="34" charset="-120"/>
              </a:rPr>
              <a:t>"Lord, make me an instrument of your peace: where there is hatred, let me sow love; where there is injury, pardon; where there is doubt, faith... Lord, grant that I may not so much seek to be consoled as to console; to be understood as to understand."</a:t>
            </a:r>
            <a:endParaRPr lang="en-US" sz="1150" dirty="0"/>
          </a:p>
        </p:txBody>
      </p:sp>
      <p:sp>
        <p:nvSpPr>
          <p:cNvPr id="11" name="Text 9"/>
          <p:cNvSpPr/>
          <p:nvPr/>
        </p:nvSpPr>
        <p:spPr>
          <a:xfrm>
            <a:off x="685800" y="5989320"/>
            <a:ext cx="10789920" cy="320040"/>
          </a:xfrm>
          <a:prstGeom prst="rect">
            <a:avLst/>
          </a:prstGeom>
          <a:noFill/>
          <a:ln/>
        </p:spPr>
        <p:txBody>
          <a:bodyPr wrap="square" lIns="0" tIns="0" rIns="0" bIns="0" rtlCol="0" anchor="ctr"/>
          <a:lstStyle/>
          <a:p>
            <a:pPr indent="0" marL="0">
              <a:buNone/>
            </a:pPr>
            <a:r>
              <a:rPr lang="en-US" sz="1000" dirty="0">
                <a:solidFill>
                  <a:srgbClr val="8E97B8"/>
                </a:solidFill>
                <a:latin typeface="Calibri" pitchFamily="34" charset="0"/>
                <a:ea typeface="Calibri" pitchFamily="34" charset="-122"/>
                <a:cs typeface="Calibri" pitchFamily="34" charset="-120"/>
              </a:rPr>
              <a:t>Source: Nancy Clemmons, S.N.J.M., Exploring the Religions of Our World, Third Edition (Notre Dame, IN: Ave Maria Press, 2022), Chapter 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the Study of the World's Religions</dc:title>
  <dc:subject>PptxGenJS Presentation</dc:subject>
  <dc:creator>World Religions</dc:creator>
  <cp:lastModifiedBy>World Religions</cp:lastModifiedBy>
  <cp:revision>1</cp:revision>
  <dcterms:created xsi:type="dcterms:W3CDTF">2026-08-17T13:25:14Z</dcterms:created>
  <dcterms:modified xsi:type="dcterms:W3CDTF">2026-08-17T13:25:14Z</dcterms:modified>
</cp:coreProperties>
</file>