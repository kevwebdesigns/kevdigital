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kevin_612x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62700" y="0"/>
            <a:ext cx="582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2038350"/>
            <a:ext cx="53340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 spc="126">
                <a:solidFill>
                  <a:srgbClr val="5C6169"/>
                </a:solidFill>
                <a:latin typeface="Helvetica Neue"/>
              </a:rPr>
              <a:t>ARCHBISHOP MCCARTHY HIGH SCHOOL   ·   10 YEAR DREAM KEYNOTE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343150"/>
            <a:ext cx="4762500" cy="179527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2000"/>
              </a:lnSpc>
            </a:pPr>
            <a:r>
              <a:rPr sz="4650" b="1" spc="-140">
                <a:solidFill>
                  <a:srgbClr val="17191D"/>
                </a:solidFill>
                <a:latin typeface="Helvetica Neue"/>
              </a:rPr>
              <a:t>Kevin</a:t>
            </a:r>
          </a:p>
          <a:p>
            <a:pPr algn="l">
              <a:lnSpc>
                <a:spcPct val="102000"/>
              </a:lnSpc>
            </a:pPr>
            <a:r>
              <a:rPr sz="4650" b="1" spc="-140">
                <a:solidFill>
                  <a:srgbClr val="17191D"/>
                </a:solidFill>
                <a:latin typeface="Helvetica Neue"/>
              </a:rPr>
              <a:t>Hernandez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3848100"/>
            <a:ext cx="4762500" cy="559594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35000"/>
              </a:lnSpc>
            </a:pPr>
            <a:r>
              <a:rPr sz="1875" b="0" spc="-22">
                <a:solidFill>
                  <a:srgbClr val="3F6189"/>
                </a:solidFill>
                <a:latin typeface="Helvetica Neue"/>
              </a:rPr>
              <a:t>Build a life that feels like mine.</a:t>
            </a:r>
          </a:p>
        </p:txBody>
      </p:sp>
      <p:sp>
        <p:nvSpPr>
          <p:cNvPr id="6" name="Rectangle 5"/>
          <p:cNvSpPr/>
          <p:nvPr/>
        </p:nvSpPr>
        <p:spPr>
          <a:xfrm>
            <a:off x="838200" y="4495800"/>
            <a:ext cx="323850" cy="19050"/>
          </a:xfrm>
          <a:prstGeom prst="rect">
            <a:avLst/>
          </a:prstGeom>
          <a:solidFill>
            <a:srgbClr val="3F618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38200" y="4762500"/>
            <a:ext cx="3848100" cy="99641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8000"/>
              </a:lnSpc>
            </a:pPr>
            <a:r>
              <a:rPr sz="1237" b="0">
                <a:solidFill>
                  <a:srgbClr val="5C6169"/>
                </a:solidFill>
                <a:latin typeface="Helvetica Neue"/>
              </a:rPr>
              <a:t>In 10 years I hope to be back in Miami, running my own business, with a family and a life I’m proud of.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38200" y="6153150"/>
            <a:ext cx="19050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 spc="110">
                <a:solidFill>
                  <a:srgbClr val="A6A299"/>
                </a:solidFill>
                <a:latin typeface="Helvetica Neue"/>
              </a:rPr>
              <a:t>01 / 05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ampus_572x31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905500" y="1981200"/>
            <a:ext cx="5448300" cy="2971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1866900"/>
            <a:ext cx="447675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 spc="126">
                <a:solidFill>
                  <a:srgbClr val="5C6169"/>
                </a:solidFill>
                <a:latin typeface="Helvetica Neue"/>
              </a:rPr>
              <a:t>EDUCATION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171700"/>
            <a:ext cx="4476750" cy="911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450" b="1" spc="-86">
                <a:solidFill>
                  <a:srgbClr val="17191D"/>
                </a:solidFill>
                <a:latin typeface="Helvetica Neue"/>
              </a:rPr>
              <a:t>The Next Step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2895600"/>
            <a:ext cx="4476750" cy="2817781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8000"/>
              </a:lnSpc>
            </a:pPr>
            <a:r>
              <a:rPr sz="1237" b="0">
                <a:solidFill>
                  <a:srgbClr val="5C6169"/>
                </a:solidFill>
                <a:latin typeface="Helvetica Neue"/>
              </a:rPr>
              <a:t>After McCarthy I want to go to college and study business. I’m most interested in the entrepreneurship side of it — finance, marketing, and how a company actually runs day to day.</a:t>
            </a:r>
          </a:p>
          <a:p>
            <a:pPr algn="l">
              <a:lnSpc>
                <a:spcPct val="178000"/>
              </a:lnSpc>
              <a:spcBef>
                <a:spcPts val="1125"/>
              </a:spcBef>
            </a:pPr>
            <a:r>
              <a:rPr sz="1237" b="0">
                <a:solidFill>
                  <a:srgbClr val="5C6169"/>
                </a:solidFill>
                <a:latin typeface="Helvetica Neue"/>
              </a:rPr>
              <a:t>I also want to use college to meet people and get real experience, not just sit in class. An internship, a job, whatever I can get. And if I come up with an idea I believe in, I’d like to try starting something small while I’m still in school.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38200" y="6153150"/>
            <a:ext cx="19050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 spc="110">
                <a:solidFill>
                  <a:srgbClr val="A6A299"/>
                </a:solidFill>
                <a:latin typeface="Helvetica Neue"/>
              </a:rPr>
              <a:t>02 / 05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miami_1280x392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2000" cy="37338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838200" y="2495550"/>
            <a:ext cx="72390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 spc="126">
                <a:solidFill>
                  <a:srgbClr val="B8BCC2"/>
                </a:solidFill>
                <a:latin typeface="Helvetica Neue"/>
              </a:rPr>
              <a:t>CAREER   ·   MIAMI, FLORIDA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38200" y="2762250"/>
            <a:ext cx="7239000" cy="911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450" b="1" spc="-86">
                <a:solidFill>
                  <a:srgbClr val="FFFFFF"/>
                </a:solidFill>
                <a:latin typeface="Helvetica Neue"/>
              </a:rPr>
              <a:t>Building My Own Thing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38200" y="4305300"/>
            <a:ext cx="4953000" cy="2258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8000"/>
              </a:lnSpc>
            </a:pPr>
            <a:r>
              <a:rPr sz="1237" b="0">
                <a:solidFill>
                  <a:srgbClr val="5C6169"/>
                </a:solidFill>
                <a:latin typeface="Helvetica Neue"/>
              </a:rPr>
              <a:t>Ten years out, I picture myself in Miami running my own business. I don’t know exactly what it will be yet — that’s the honest answer. I just know I want it to be mine.</a:t>
            </a:r>
          </a:p>
          <a:p>
            <a:pPr algn="l">
              <a:lnSpc>
                <a:spcPct val="178000"/>
              </a:lnSpc>
              <a:spcBef>
                <a:spcPts val="1125"/>
              </a:spcBef>
            </a:pPr>
            <a:r>
              <a:rPr sz="1237" b="0">
                <a:solidFill>
                  <a:srgbClr val="5C6169"/>
                </a:solidFill>
                <a:latin typeface="Helvetica Neue"/>
              </a:rPr>
              <a:t>I’m fine with working a lot, especially early on. What I really want is control over my own time, enough money that I’m not worried about money, and something I built that I’d put my name on.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800" y="6438900"/>
            <a:ext cx="19050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787" b="0" spc="110">
                <a:solidFill>
                  <a:srgbClr val="A6A299"/>
                </a:solidFill>
                <a:latin typeface="Helvetica Neue"/>
              </a:rPr>
              <a:t>03 / 05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838200" y="838200"/>
            <a:ext cx="5143500" cy="5181600"/>
          </a:xfrm>
          <a:prstGeom prst="rect">
            <a:avLst/>
          </a:prstGeom>
          <a:solidFill>
            <a:srgbClr val="EAE7E0"/>
          </a:solidFill>
          <a:ln w="9525">
            <a:solidFill>
              <a:srgbClr val="D8D4C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/>
            <a:r>
              <a:rPr sz="787" spc="94">
                <a:solidFill>
                  <a:srgbClr val="9A958A"/>
                </a:solidFill>
                <a:latin typeface="Helvetica Neue"/>
              </a:rPr>
              <a:t>FAMILY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6705600" y="1866900"/>
            <a:ext cx="46482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 spc="126">
                <a:solidFill>
                  <a:srgbClr val="5C6169"/>
                </a:solidFill>
                <a:latin typeface="Helvetica Neue"/>
              </a:rPr>
              <a:t>LIFE OUTSIDE OF WORK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705600" y="2171700"/>
            <a:ext cx="4648200" cy="911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450" b="1" spc="-86">
                <a:solidFill>
                  <a:srgbClr val="17191D"/>
                </a:solidFill>
                <a:latin typeface="Helvetica Neue"/>
              </a:rPr>
              <a:t>The Life I Want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705600" y="2895600"/>
            <a:ext cx="4648200" cy="2258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8000"/>
              </a:lnSpc>
            </a:pPr>
            <a:r>
              <a:rPr sz="1237" b="0">
                <a:solidFill>
                  <a:srgbClr val="5C6169"/>
                </a:solidFill>
                <a:latin typeface="Helvetica Neue"/>
              </a:rPr>
              <a:t>Outside of work I keep picturing something pretty normal, honestly. A wife, two kids, a dog, and a house with enough room for people to come over. Sundays with family. The same friends I have now, still around.</a:t>
            </a:r>
          </a:p>
          <a:p>
            <a:pPr algn="l">
              <a:lnSpc>
                <a:spcPct val="178000"/>
              </a:lnSpc>
              <a:spcBef>
                <a:spcPts val="1125"/>
              </a:spcBef>
            </a:pPr>
            <a:r>
              <a:rPr sz="1237" b="0">
                <a:solidFill>
                  <a:srgbClr val="5C6169"/>
                </a:solidFill>
                <a:latin typeface="Helvetica Neue"/>
              </a:rPr>
              <a:t>I want to stay in the gym, get to the beach when I can, keep up with my teams, and probably spend too much on a car at some point.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448800" y="6153150"/>
            <a:ext cx="19050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787" b="0" spc="110">
                <a:solidFill>
                  <a:srgbClr val="A6A299"/>
                </a:solidFill>
                <a:latin typeface="Helvetica Neue"/>
              </a:rPr>
              <a:t>04 / 05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6F5F2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barcelona_612x720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5829300" cy="68580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629400" y="1428750"/>
            <a:ext cx="47244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20000"/>
              </a:lnSpc>
            </a:pPr>
            <a:r>
              <a:rPr sz="787" b="0" spc="126">
                <a:solidFill>
                  <a:srgbClr val="5C6169"/>
                </a:solidFill>
                <a:latin typeface="Helvetica Neue"/>
              </a:rPr>
              <a:t>THE REUNION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629400" y="1733550"/>
            <a:ext cx="4724400" cy="91135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08000"/>
              </a:lnSpc>
            </a:pPr>
            <a:r>
              <a:rPr sz="3450" b="1" spc="-86">
                <a:solidFill>
                  <a:srgbClr val="17191D"/>
                </a:solidFill>
                <a:latin typeface="Helvetica Neue"/>
              </a:rPr>
              <a:t>See You in 10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6629400" y="2457450"/>
            <a:ext cx="4476750" cy="2258282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78000"/>
              </a:lnSpc>
            </a:pPr>
            <a:r>
              <a:rPr sz="1237" b="0">
                <a:solidFill>
                  <a:srgbClr val="5C6169"/>
                </a:solidFill>
                <a:latin typeface="Helvetica Neue"/>
              </a:rPr>
              <a:t>If it goes the way I hope: I’m living in Miami, running my own business, and I pull up with my wife, our two kids, and probably the dog too.</a:t>
            </a:r>
          </a:p>
          <a:p>
            <a:pPr algn="l">
              <a:lnSpc>
                <a:spcPct val="178000"/>
              </a:lnSpc>
              <a:spcBef>
                <a:spcPts val="1125"/>
              </a:spcBef>
            </a:pPr>
            <a:r>
              <a:rPr sz="1237" b="0">
                <a:solidFill>
                  <a:srgbClr val="5C6169"/>
                </a:solidFill>
                <a:latin typeface="Helvetica Neue"/>
              </a:rPr>
              <a:t>By then I want to have made it to Barcelona — Spain is the one trip I really want to take. Comfortable, not rich. Proud of what I built, and still close with the same people I care about now.</a:t>
            </a:r>
          </a:p>
        </p:txBody>
      </p:sp>
      <p:sp>
        <p:nvSpPr>
          <p:cNvPr id="6" name="Rectangle 5"/>
          <p:cNvSpPr/>
          <p:nvPr/>
        </p:nvSpPr>
        <p:spPr>
          <a:xfrm>
            <a:off x="6629400" y="4876800"/>
            <a:ext cx="4400550" cy="9525"/>
          </a:xfrm>
          <a:prstGeom prst="rect">
            <a:avLst/>
          </a:prstGeom>
          <a:solidFill>
            <a:srgbClr val="DFDCD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629400" y="5143500"/>
            <a:ext cx="4400550" cy="762000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l">
              <a:lnSpc>
                <a:spcPct val="150000"/>
              </a:lnSpc>
            </a:pPr>
            <a:r>
              <a:rPr sz="1500" b="0" spc="-21">
                <a:solidFill>
                  <a:srgbClr val="3F6189"/>
                </a:solidFill>
                <a:latin typeface="Helvetica Neue"/>
              </a:rPr>
              <a:t>I know it won’t go exactly like this. I just want to look back and know it was all mine.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448800" y="6153150"/>
            <a:ext cx="1905000" cy="220028"/>
          </a:xfrm>
          <a:prstGeom prst="rect">
            <a:avLst/>
          </a:prstGeom>
          <a:noFill/>
        </p:spPr>
        <p:txBody>
          <a:bodyPr wrap="square" lIns="0" rIns="0" tIns="0" bIns="0">
            <a:noAutofit/>
          </a:bodyPr>
          <a:lstStyle/>
          <a:p>
            <a:pPr algn="r">
              <a:lnSpc>
                <a:spcPct val="120000"/>
              </a:lnSpc>
            </a:pPr>
            <a:r>
              <a:rPr sz="787" b="0" spc="110">
                <a:solidFill>
                  <a:srgbClr val="A6A299"/>
                </a:solidFill>
                <a:latin typeface="Helvetica Neue"/>
              </a:rPr>
              <a:t>05 / 05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