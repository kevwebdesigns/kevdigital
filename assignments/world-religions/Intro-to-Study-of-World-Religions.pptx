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326880" y="-1371600"/>
            <a:ext cx="4754880" cy="4754880"/>
          </a:xfrm>
          <a:prstGeom prst="ellipse">
            <a:avLst/>
          </a:prstGeom>
          <a:solidFill>
            <a:srgbClr val="141A44"/>
          </a:solidFill>
          <a:ln w="12700">
            <a:solidFill>
              <a:srgbClr val="141A44"/>
            </a:solidFill>
            <a:prstDash val="solid"/>
          </a:ln>
        </p:spPr>
      </p:sp>
      <p:sp>
        <p:nvSpPr>
          <p:cNvPr id="3" name="Shape 1"/>
          <p:cNvSpPr/>
          <p:nvPr/>
        </p:nvSpPr>
        <p:spPr>
          <a:xfrm>
            <a:off x="-1280160" y="4206240"/>
            <a:ext cx="3840480" cy="3840480"/>
          </a:xfrm>
          <a:prstGeom prst="ellipse">
            <a:avLst/>
          </a:prstGeom>
          <a:solidFill>
            <a:srgbClr val="141A44"/>
          </a:solidFill>
          <a:ln w="12700">
            <a:solidFill>
              <a:srgbClr val="141A44"/>
            </a:solidFill>
            <a:prstDash val="solid"/>
          </a:ln>
        </p:spPr>
      </p:sp>
      <p:sp>
        <p:nvSpPr>
          <p:cNvPr id="4" name="Shape 2"/>
          <p:cNvSpPr/>
          <p:nvPr/>
        </p:nvSpPr>
        <p:spPr>
          <a:xfrm>
            <a:off x="822960" y="1051560"/>
            <a:ext cx="731520" cy="731520"/>
          </a:xfrm>
          <a:prstGeom prst="ellipse">
            <a:avLst/>
          </a:prstGeom>
          <a:solidFill>
            <a:srgbClr val="BF5637"/>
          </a:solidFill>
          <a:ln w="12700">
            <a:solidFill>
              <a:srgbClr val="BF5637"/>
            </a:solidFill>
            <a:prstDash val="solid"/>
          </a:ln>
        </p:spPr>
      </p:sp>
      <p:sp>
        <p:nvSpPr>
          <p:cNvPr id="5" name="Text 3"/>
          <p:cNvSpPr/>
          <p:nvPr/>
        </p:nvSpPr>
        <p:spPr>
          <a:xfrm>
            <a:off x="822960" y="1051560"/>
            <a:ext cx="731520" cy="7315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822960" y="2057400"/>
            <a:ext cx="8778240" cy="173736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Introduction to the Study</a:t>
            </a:r>
            <a:endParaRPr lang="en-US" sz="4400" dirty="0"/>
          </a:p>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of the World's Religions</a:t>
            </a:r>
            <a:endParaRPr lang="en-US" sz="4400" dirty="0"/>
          </a:p>
        </p:txBody>
      </p:sp>
      <p:sp>
        <p:nvSpPr>
          <p:cNvPr id="7" name="Text 5"/>
          <p:cNvSpPr/>
          <p:nvPr/>
        </p:nvSpPr>
        <p:spPr>
          <a:xfrm>
            <a:off x="822960" y="4343400"/>
            <a:ext cx="8778240" cy="9144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[Your First and Last Name]</a:t>
            </a:r>
            <a:endParaRPr lang="en-US" sz="2000" dirty="0"/>
          </a:p>
          <a:p>
            <a:pPr indent="0" marL="0">
              <a:buNone/>
            </a:pPr>
            <a:r>
              <a:rPr lang="en-US" sz="1300" i="1" dirty="0">
                <a:solidFill>
                  <a:srgbClr val="AFB7D4"/>
                </a:solidFill>
                <a:latin typeface="Calibri" pitchFamily="34" charset="0"/>
                <a:ea typeface="Calibri" pitchFamily="34" charset="-122"/>
                <a:cs typeface="Calibri" pitchFamily="34" charset="-120"/>
              </a:rPr>
              <a:t>[Partner's First and Last Name, if applicable]</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10972800" cy="658368"/>
          </a:xfrm>
          <a:prstGeom prst="rect">
            <a:avLst/>
          </a:prstGeom>
          <a:noFill/>
          <a:ln/>
        </p:spPr>
        <p:txBody>
          <a:bodyPr wrap="square" lIns="0" tIns="0" rIns="0" bIns="0"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Part 1: Similarities with Christianity</a:t>
            </a:r>
            <a:endParaRPr lang="en-US" sz="2800" dirty="0"/>
          </a:p>
        </p:txBody>
      </p:sp>
      <p:sp>
        <p:nvSpPr>
          <p:cNvPr id="3" name="Text 1"/>
          <p:cNvSpPr/>
          <p:nvPr/>
        </p:nvSpPr>
        <p:spPr>
          <a:xfrm>
            <a:off x="640080" y="1042416"/>
            <a:ext cx="10972800" cy="310896"/>
          </a:xfrm>
          <a:prstGeom prst="rect">
            <a:avLst/>
          </a:prstGeom>
          <a:noFill/>
          <a:ln/>
        </p:spPr>
        <p:txBody>
          <a:bodyPr wrap="square" lIns="0" tIns="0" rIns="0" bIns="0" rtlCol="0" anchor="ctr"/>
          <a:lstStyle/>
          <a:p>
            <a:pPr indent="0" marL="0">
              <a:buNone/>
            </a:pPr>
            <a:r>
              <a:rPr lang="en-US" sz="1350" i="1" dirty="0">
                <a:solidFill>
                  <a:srgbClr val="5B6274"/>
                </a:solidFill>
                <a:latin typeface="Calibri" pitchFamily="34" charset="0"/>
                <a:ea typeface="Calibri" pitchFamily="34" charset="-122"/>
                <a:cs typeface="Calibri" pitchFamily="34" charset="-120"/>
              </a:rPr>
              <a:t>One particular similarity for each pair of religions</a:t>
            </a:r>
            <a:endParaRPr lang="en-US" sz="1350" dirty="0"/>
          </a:p>
        </p:txBody>
      </p:sp>
      <p:sp>
        <p:nvSpPr>
          <p:cNvPr id="4" name="Shape 2"/>
          <p:cNvSpPr/>
          <p:nvPr/>
        </p:nvSpPr>
        <p:spPr>
          <a:xfrm>
            <a:off x="548640" y="1600200"/>
            <a:ext cx="5440680" cy="4206240"/>
          </a:xfrm>
          <a:prstGeom prst="roundRect">
            <a:avLst>
              <a:gd name="adj" fmla="val 1304"/>
            </a:avLst>
          </a:prstGeom>
          <a:solidFill>
            <a:srgbClr val="F0F2F8"/>
          </a:solidFill>
          <a:ln w="12700">
            <a:solidFill>
              <a:srgbClr val="F0F2F8"/>
            </a:solidFill>
            <a:prstDash val="solid"/>
          </a:ln>
          <a:effectLst>
            <a:outerShdw sx="100000" sy="100000" kx="0" ky="0" algn="bl" rotWithShape="0" blurRad="127000" dist="25400" dir="5400000">
              <a:srgbClr val="9AA1B5">
                <a:alpha val="30000"/>
              </a:srgbClr>
            </a:outerShdw>
          </a:effectLst>
        </p:spPr>
      </p:sp>
      <p:sp>
        <p:nvSpPr>
          <p:cNvPr id="5" name="Shape 3"/>
          <p:cNvSpPr/>
          <p:nvPr/>
        </p:nvSpPr>
        <p:spPr>
          <a:xfrm>
            <a:off x="868680" y="1901952"/>
            <a:ext cx="502920" cy="502920"/>
          </a:xfrm>
          <a:prstGeom prst="ellipse">
            <a:avLst/>
          </a:prstGeom>
          <a:solidFill>
            <a:srgbClr val="1C7293"/>
          </a:solidFill>
          <a:ln w="12700">
            <a:solidFill>
              <a:srgbClr val="1C7293"/>
            </a:solidFill>
            <a:prstDash val="solid"/>
          </a:ln>
        </p:spPr>
      </p:sp>
      <p:sp>
        <p:nvSpPr>
          <p:cNvPr id="6" name="Text 4"/>
          <p:cNvSpPr/>
          <p:nvPr/>
        </p:nvSpPr>
        <p:spPr>
          <a:xfrm>
            <a:off x="868680" y="1901952"/>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7" name="Text 5"/>
          <p:cNvSpPr/>
          <p:nvPr/>
        </p:nvSpPr>
        <p:spPr>
          <a:xfrm>
            <a:off x="1508760" y="1874520"/>
            <a:ext cx="4206240" cy="548640"/>
          </a:xfrm>
          <a:prstGeom prst="rect">
            <a:avLst/>
          </a:prstGeom>
          <a:noFill/>
          <a:ln/>
        </p:spPr>
        <p:txBody>
          <a:bodyPr wrap="square" lIns="0" tIns="0" rIns="0" bIns="0" rtlCol="0" anchor="ctr"/>
          <a:lstStyle/>
          <a:p>
            <a:pPr indent="0" marL="0">
              <a:buNone/>
            </a:pPr>
            <a:r>
              <a:rPr lang="en-US" sz="2000" b="1" dirty="0">
                <a:solidFill>
                  <a:srgbClr val="1E2761"/>
                </a:solidFill>
                <a:latin typeface="Cambria" pitchFamily="34" charset="0"/>
                <a:ea typeface="Cambria" pitchFamily="34" charset="-122"/>
                <a:cs typeface="Cambria" pitchFamily="34" charset="-120"/>
              </a:rPr>
              <a:t>Christianity &amp; Judaism</a:t>
            </a:r>
            <a:endParaRPr lang="en-US" sz="2000" dirty="0"/>
          </a:p>
        </p:txBody>
      </p:sp>
      <p:sp>
        <p:nvSpPr>
          <p:cNvPr id="8" name="Text 6"/>
          <p:cNvSpPr/>
          <p:nvPr/>
        </p:nvSpPr>
        <p:spPr>
          <a:xfrm>
            <a:off x="868680" y="2606040"/>
            <a:ext cx="4800600" cy="685800"/>
          </a:xfrm>
          <a:prstGeom prst="rect">
            <a:avLst/>
          </a:prstGeom>
          <a:noFill/>
          <a:ln/>
        </p:spPr>
        <p:txBody>
          <a:bodyPr wrap="square" lIns="0" tIns="0" rIns="0" bIns="0" rtlCol="0" anchor="t"/>
          <a:lstStyle/>
          <a:p>
            <a:pPr indent="0" marL="0">
              <a:lnSpc>
                <a:spcPct val="100000"/>
              </a:lnSpc>
              <a:buNone/>
            </a:pPr>
            <a:r>
              <a:rPr lang="en-US" sz="1600" b="1" dirty="0">
                <a:solidFill>
                  <a:srgbClr val="1C7293"/>
                </a:solidFill>
                <a:latin typeface="Cambria" pitchFamily="34" charset="0"/>
                <a:ea typeface="Cambria" pitchFamily="34" charset="-122"/>
                <a:cs typeface="Cambria" pitchFamily="34" charset="-120"/>
              </a:rPr>
              <a:t>Both hold the same sacred scriptures and sacred history.</a:t>
            </a:r>
            <a:endParaRPr lang="en-US" sz="1600" dirty="0"/>
          </a:p>
        </p:txBody>
      </p:sp>
      <p:sp>
        <p:nvSpPr>
          <p:cNvPr id="9" name="Text 7"/>
          <p:cNvSpPr/>
          <p:nvPr/>
        </p:nvSpPr>
        <p:spPr>
          <a:xfrm>
            <a:off x="868680" y="3429000"/>
            <a:ext cx="4800600" cy="2194560"/>
          </a:xfrm>
          <a:prstGeom prst="rect">
            <a:avLst/>
          </a:prstGeom>
          <a:noFill/>
          <a:ln/>
        </p:spPr>
        <p:txBody>
          <a:bodyPr wrap="square" lIns="0" tIns="0" rIns="0" bIns="0" rtlCol="0" anchor="t"/>
          <a:lstStyle/>
          <a:p>
            <a:pPr indent="0" marL="0">
              <a:lnSpc>
                <a:spcPct val="110000"/>
              </a:lnSpc>
              <a:buNone/>
            </a:pPr>
            <a:r>
              <a:rPr lang="en-US" sz="1300" dirty="0">
                <a:solidFill>
                  <a:srgbClr val="20242E"/>
                </a:solidFill>
                <a:latin typeface="Calibri" pitchFamily="34" charset="0"/>
                <a:ea typeface="Calibri" pitchFamily="34" charset="-122"/>
                <a:cs typeface="Calibri" pitchFamily="34" charset="-120"/>
              </a:rPr>
              <a:t>Christianity grew directly out of Judaism, so the two traditions share one set of sacred stories. The Hebrew scriptures that Jews call the Tanakh are the same books Christians read as the Old Testament. Chapter 1 notes that the story of the Jewish people includes creation stories and the sacred history of the patriarchs and prophets, and Christians claim that same history as their own.</a:t>
            </a:r>
            <a:endParaRPr lang="en-US" sz="1300" dirty="0"/>
          </a:p>
        </p:txBody>
      </p:sp>
      <p:sp>
        <p:nvSpPr>
          <p:cNvPr id="10" name="Shape 8"/>
          <p:cNvSpPr/>
          <p:nvPr/>
        </p:nvSpPr>
        <p:spPr>
          <a:xfrm>
            <a:off x="6172200" y="1600200"/>
            <a:ext cx="5440680" cy="4206240"/>
          </a:xfrm>
          <a:prstGeom prst="roundRect">
            <a:avLst>
              <a:gd name="adj" fmla="val 1304"/>
            </a:avLst>
          </a:prstGeom>
          <a:solidFill>
            <a:srgbClr val="F0F2F8"/>
          </a:solidFill>
          <a:ln w="12700">
            <a:solidFill>
              <a:srgbClr val="F0F2F8"/>
            </a:solidFill>
            <a:prstDash val="solid"/>
          </a:ln>
          <a:effectLst>
            <a:outerShdw sx="100000" sy="100000" kx="0" ky="0" algn="bl" rotWithShape="0" blurRad="127000" dist="25400" dir="5400000">
              <a:srgbClr val="9AA1B5">
                <a:alpha val="30000"/>
              </a:srgbClr>
            </a:outerShdw>
          </a:effectLst>
        </p:spPr>
      </p:sp>
      <p:sp>
        <p:nvSpPr>
          <p:cNvPr id="11" name="Shape 9"/>
          <p:cNvSpPr/>
          <p:nvPr/>
        </p:nvSpPr>
        <p:spPr>
          <a:xfrm>
            <a:off x="6492240" y="1901952"/>
            <a:ext cx="502920" cy="502920"/>
          </a:xfrm>
          <a:prstGeom prst="ellipse">
            <a:avLst/>
          </a:prstGeom>
          <a:solidFill>
            <a:srgbClr val="BF5637"/>
          </a:solidFill>
          <a:ln w="12700">
            <a:solidFill>
              <a:srgbClr val="BF5637"/>
            </a:solidFill>
            <a:prstDash val="solid"/>
          </a:ln>
        </p:spPr>
      </p:sp>
      <p:sp>
        <p:nvSpPr>
          <p:cNvPr id="12" name="Text 10"/>
          <p:cNvSpPr/>
          <p:nvPr/>
        </p:nvSpPr>
        <p:spPr>
          <a:xfrm>
            <a:off x="6492240" y="1901952"/>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7132320" y="1874520"/>
            <a:ext cx="4206240" cy="548640"/>
          </a:xfrm>
          <a:prstGeom prst="rect">
            <a:avLst/>
          </a:prstGeom>
          <a:noFill/>
          <a:ln/>
        </p:spPr>
        <p:txBody>
          <a:bodyPr wrap="square" lIns="0" tIns="0" rIns="0" bIns="0" rtlCol="0" anchor="ctr"/>
          <a:lstStyle/>
          <a:p>
            <a:pPr indent="0" marL="0">
              <a:buNone/>
            </a:pPr>
            <a:r>
              <a:rPr lang="en-US" sz="2000" b="1" dirty="0">
                <a:solidFill>
                  <a:srgbClr val="1E2761"/>
                </a:solidFill>
                <a:latin typeface="Cambria" pitchFamily="34" charset="0"/>
                <a:ea typeface="Cambria" pitchFamily="34" charset="-122"/>
                <a:cs typeface="Cambria" pitchFamily="34" charset="-120"/>
              </a:rPr>
              <a:t>Christianity &amp; Islam</a:t>
            </a:r>
            <a:endParaRPr lang="en-US" sz="2000" dirty="0"/>
          </a:p>
        </p:txBody>
      </p:sp>
      <p:sp>
        <p:nvSpPr>
          <p:cNvPr id="14" name="Text 12"/>
          <p:cNvSpPr/>
          <p:nvPr/>
        </p:nvSpPr>
        <p:spPr>
          <a:xfrm>
            <a:off x="6492240" y="2606040"/>
            <a:ext cx="4800600" cy="685800"/>
          </a:xfrm>
          <a:prstGeom prst="rect">
            <a:avLst/>
          </a:prstGeom>
          <a:noFill/>
          <a:ln/>
        </p:spPr>
        <p:txBody>
          <a:bodyPr wrap="square" lIns="0" tIns="0" rIns="0" bIns="0" rtlCol="0" anchor="t"/>
          <a:lstStyle/>
          <a:p>
            <a:pPr indent="0" marL="0">
              <a:lnSpc>
                <a:spcPct val="100000"/>
              </a:lnSpc>
              <a:buNone/>
            </a:pPr>
            <a:r>
              <a:rPr lang="en-US" sz="1600" b="1" dirty="0">
                <a:solidFill>
                  <a:srgbClr val="BF5637"/>
                </a:solidFill>
                <a:latin typeface="Cambria" pitchFamily="34" charset="0"/>
                <a:ea typeface="Cambria" pitchFamily="34" charset="-122"/>
                <a:cs typeface="Cambria" pitchFamily="34" charset="-120"/>
              </a:rPr>
              <a:t>Both keep an annual season of fasting for spiritual renewal.</a:t>
            </a:r>
            <a:endParaRPr lang="en-US" sz="1600" dirty="0"/>
          </a:p>
        </p:txBody>
      </p:sp>
      <p:sp>
        <p:nvSpPr>
          <p:cNvPr id="15" name="Text 13"/>
          <p:cNvSpPr/>
          <p:nvPr/>
        </p:nvSpPr>
        <p:spPr>
          <a:xfrm>
            <a:off x="6492240" y="3429000"/>
            <a:ext cx="4800600" cy="2194560"/>
          </a:xfrm>
          <a:prstGeom prst="rect">
            <a:avLst/>
          </a:prstGeom>
          <a:noFill/>
          <a:ln/>
        </p:spPr>
        <p:txBody>
          <a:bodyPr wrap="square" lIns="0" tIns="0" rIns="0" bIns="0" rtlCol="0" anchor="t"/>
          <a:lstStyle/>
          <a:p>
            <a:pPr indent="0" marL="0">
              <a:lnSpc>
                <a:spcPct val="110000"/>
              </a:lnSpc>
              <a:buNone/>
            </a:pPr>
            <a:r>
              <a:rPr lang="en-US" sz="1300" dirty="0">
                <a:solidFill>
                  <a:srgbClr val="20242E"/>
                </a:solidFill>
                <a:latin typeface="Calibri" pitchFamily="34" charset="0"/>
                <a:ea typeface="Calibri" pitchFamily="34" charset="-122"/>
                <a:cs typeface="Calibri" pitchFamily="34" charset="-120"/>
              </a:rPr>
              <a:t>Chapter 1 lists Lent and Ramadan side by side as annual times of fasting for spiritual renewal and growth. Christians fast and give alms through the forty days of Lent, and Muslims fast from dawn to sunset for the month of Ramadan. In both traditions the fast is a sacred time set aside for prayer, repentance, and returning to God.</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10972800" cy="658368"/>
          </a:xfrm>
          <a:prstGeom prst="rect">
            <a:avLst/>
          </a:prstGeom>
          <a:noFill/>
          <a:ln/>
        </p:spPr>
        <p:txBody>
          <a:bodyPr wrap="square" lIns="0" tIns="0" rIns="0" bIns="0"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Part 1: Similarities with Christianity</a:t>
            </a:r>
            <a:endParaRPr lang="en-US" sz="2800" dirty="0"/>
          </a:p>
        </p:txBody>
      </p:sp>
      <p:sp>
        <p:nvSpPr>
          <p:cNvPr id="3" name="Text 1"/>
          <p:cNvSpPr/>
          <p:nvPr/>
        </p:nvSpPr>
        <p:spPr>
          <a:xfrm>
            <a:off x="640080" y="1042416"/>
            <a:ext cx="10972800" cy="310896"/>
          </a:xfrm>
          <a:prstGeom prst="rect">
            <a:avLst/>
          </a:prstGeom>
          <a:noFill/>
          <a:ln/>
        </p:spPr>
        <p:txBody>
          <a:bodyPr wrap="square" lIns="0" tIns="0" rIns="0" bIns="0" rtlCol="0" anchor="ctr"/>
          <a:lstStyle/>
          <a:p>
            <a:pPr indent="0" marL="0">
              <a:buNone/>
            </a:pPr>
            <a:r>
              <a:rPr lang="en-US" sz="1350" i="1" dirty="0">
                <a:solidFill>
                  <a:srgbClr val="5B6274"/>
                </a:solidFill>
                <a:latin typeface="Calibri" pitchFamily="34" charset="0"/>
                <a:ea typeface="Calibri" pitchFamily="34" charset="-122"/>
                <a:cs typeface="Calibri" pitchFamily="34" charset="-120"/>
              </a:rPr>
              <a:t>One particular similarity for each pair of religions</a:t>
            </a:r>
            <a:endParaRPr lang="en-US" sz="1350" dirty="0"/>
          </a:p>
        </p:txBody>
      </p:sp>
      <p:sp>
        <p:nvSpPr>
          <p:cNvPr id="4" name="Shape 2"/>
          <p:cNvSpPr/>
          <p:nvPr/>
        </p:nvSpPr>
        <p:spPr>
          <a:xfrm>
            <a:off x="548640" y="1600200"/>
            <a:ext cx="5440680" cy="4206240"/>
          </a:xfrm>
          <a:prstGeom prst="roundRect">
            <a:avLst>
              <a:gd name="adj" fmla="val 1304"/>
            </a:avLst>
          </a:prstGeom>
          <a:solidFill>
            <a:srgbClr val="F0F2F8"/>
          </a:solidFill>
          <a:ln w="12700">
            <a:solidFill>
              <a:srgbClr val="F0F2F8"/>
            </a:solidFill>
            <a:prstDash val="solid"/>
          </a:ln>
          <a:effectLst>
            <a:outerShdw sx="100000" sy="100000" kx="0" ky="0" algn="bl" rotWithShape="0" blurRad="127000" dist="25400" dir="5400000">
              <a:srgbClr val="9AA1B5">
                <a:alpha val="30000"/>
              </a:srgbClr>
            </a:outerShdw>
          </a:effectLst>
        </p:spPr>
      </p:sp>
      <p:sp>
        <p:nvSpPr>
          <p:cNvPr id="5" name="Shape 3"/>
          <p:cNvSpPr/>
          <p:nvPr/>
        </p:nvSpPr>
        <p:spPr>
          <a:xfrm>
            <a:off x="868680" y="1901952"/>
            <a:ext cx="502920" cy="502920"/>
          </a:xfrm>
          <a:prstGeom prst="ellipse">
            <a:avLst/>
          </a:prstGeom>
          <a:solidFill>
            <a:srgbClr val="C69A3E"/>
          </a:solidFill>
          <a:ln w="12700">
            <a:solidFill>
              <a:srgbClr val="C69A3E"/>
            </a:solidFill>
            <a:prstDash val="solid"/>
          </a:ln>
        </p:spPr>
      </p:sp>
      <p:sp>
        <p:nvSpPr>
          <p:cNvPr id="6" name="Text 4"/>
          <p:cNvSpPr/>
          <p:nvPr/>
        </p:nvSpPr>
        <p:spPr>
          <a:xfrm>
            <a:off x="868680" y="1901952"/>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7" name="Text 5"/>
          <p:cNvSpPr/>
          <p:nvPr/>
        </p:nvSpPr>
        <p:spPr>
          <a:xfrm>
            <a:off x="1508760" y="1874520"/>
            <a:ext cx="4206240" cy="548640"/>
          </a:xfrm>
          <a:prstGeom prst="rect">
            <a:avLst/>
          </a:prstGeom>
          <a:noFill/>
          <a:ln/>
        </p:spPr>
        <p:txBody>
          <a:bodyPr wrap="square" lIns="0" tIns="0" rIns="0" bIns="0" rtlCol="0" anchor="ctr"/>
          <a:lstStyle/>
          <a:p>
            <a:pPr indent="0" marL="0">
              <a:buNone/>
            </a:pPr>
            <a:r>
              <a:rPr lang="en-US" sz="2000" b="1" dirty="0">
                <a:solidFill>
                  <a:srgbClr val="1E2761"/>
                </a:solidFill>
                <a:latin typeface="Cambria" pitchFamily="34" charset="0"/>
                <a:ea typeface="Cambria" pitchFamily="34" charset="-122"/>
                <a:cs typeface="Cambria" pitchFamily="34" charset="-120"/>
              </a:rPr>
              <a:t>Christianity &amp; Hinduism</a:t>
            </a:r>
            <a:endParaRPr lang="en-US" sz="2000" dirty="0"/>
          </a:p>
        </p:txBody>
      </p:sp>
      <p:sp>
        <p:nvSpPr>
          <p:cNvPr id="8" name="Text 6"/>
          <p:cNvSpPr/>
          <p:nvPr/>
        </p:nvSpPr>
        <p:spPr>
          <a:xfrm>
            <a:off x="868680" y="2606040"/>
            <a:ext cx="4800600" cy="685800"/>
          </a:xfrm>
          <a:prstGeom prst="rect">
            <a:avLst/>
          </a:prstGeom>
          <a:noFill/>
          <a:ln/>
        </p:spPr>
        <p:txBody>
          <a:bodyPr wrap="square" lIns="0" tIns="0" rIns="0" bIns="0" rtlCol="0" anchor="t"/>
          <a:lstStyle/>
          <a:p>
            <a:pPr indent="0" marL="0">
              <a:lnSpc>
                <a:spcPct val="100000"/>
              </a:lnSpc>
              <a:buNone/>
            </a:pPr>
            <a:r>
              <a:rPr lang="en-US" sz="1600" b="1" dirty="0">
                <a:solidFill>
                  <a:srgbClr val="9A7420"/>
                </a:solidFill>
                <a:latin typeface="Cambria" pitchFamily="34" charset="0"/>
                <a:ea typeface="Cambria" pitchFamily="34" charset="-122"/>
                <a:cs typeface="Cambria" pitchFamily="34" charset="-120"/>
              </a:rPr>
              <a:t>Both treat rivers in nature as sacred places.</a:t>
            </a:r>
            <a:endParaRPr lang="en-US" sz="1600" dirty="0"/>
          </a:p>
        </p:txBody>
      </p:sp>
      <p:sp>
        <p:nvSpPr>
          <p:cNvPr id="9" name="Text 7"/>
          <p:cNvSpPr/>
          <p:nvPr/>
        </p:nvSpPr>
        <p:spPr>
          <a:xfrm>
            <a:off x="868680" y="3429000"/>
            <a:ext cx="4800600" cy="2194560"/>
          </a:xfrm>
          <a:prstGeom prst="rect">
            <a:avLst/>
          </a:prstGeom>
          <a:noFill/>
          <a:ln/>
        </p:spPr>
        <p:txBody>
          <a:bodyPr wrap="square" lIns="0" tIns="0" rIns="0" bIns="0" rtlCol="0" anchor="t"/>
          <a:lstStyle/>
          <a:p>
            <a:pPr indent="0" marL="0">
              <a:lnSpc>
                <a:spcPct val="110000"/>
              </a:lnSpc>
              <a:buNone/>
            </a:pPr>
            <a:r>
              <a:rPr lang="en-US" sz="1300" dirty="0">
                <a:solidFill>
                  <a:srgbClr val="20242E"/>
                </a:solidFill>
                <a:latin typeface="Calibri" pitchFamily="34" charset="0"/>
                <a:ea typeface="Calibri" pitchFamily="34" charset="-122"/>
                <a:cs typeface="Calibri" pitchFamily="34" charset="-120"/>
              </a:rPr>
              <a:t>Chapter 1 pairs these two traditions directly, naming the Jordan River for Christians and the Ganges River for Hindus as places in nature that a religious tradition calls sacred. Christians revere the Jordan as the place of Jesus' baptism, and Hindu devotees bathe in the Ganges at pilgrimage sites to wash away sin.</a:t>
            </a:r>
            <a:endParaRPr lang="en-US" sz="1300" dirty="0"/>
          </a:p>
        </p:txBody>
      </p:sp>
      <p:sp>
        <p:nvSpPr>
          <p:cNvPr id="10" name="Shape 8"/>
          <p:cNvSpPr/>
          <p:nvPr/>
        </p:nvSpPr>
        <p:spPr>
          <a:xfrm>
            <a:off x="6172200" y="1600200"/>
            <a:ext cx="5440680" cy="4206240"/>
          </a:xfrm>
          <a:prstGeom prst="roundRect">
            <a:avLst>
              <a:gd name="adj" fmla="val 1304"/>
            </a:avLst>
          </a:prstGeom>
          <a:solidFill>
            <a:srgbClr val="F0F2F8"/>
          </a:solidFill>
          <a:ln w="12700">
            <a:solidFill>
              <a:srgbClr val="F0F2F8"/>
            </a:solidFill>
            <a:prstDash val="solid"/>
          </a:ln>
          <a:effectLst>
            <a:outerShdw sx="100000" sy="100000" kx="0" ky="0" algn="bl" rotWithShape="0" blurRad="127000" dist="25400" dir="5400000">
              <a:srgbClr val="9AA1B5">
                <a:alpha val="30000"/>
              </a:srgbClr>
            </a:outerShdw>
          </a:effectLst>
        </p:spPr>
      </p:sp>
      <p:sp>
        <p:nvSpPr>
          <p:cNvPr id="11" name="Shape 9"/>
          <p:cNvSpPr/>
          <p:nvPr/>
        </p:nvSpPr>
        <p:spPr>
          <a:xfrm>
            <a:off x="6492240" y="1901952"/>
            <a:ext cx="502920" cy="502920"/>
          </a:xfrm>
          <a:prstGeom prst="ellipse">
            <a:avLst/>
          </a:prstGeom>
          <a:solidFill>
            <a:srgbClr val="6B4A9E"/>
          </a:solidFill>
          <a:ln w="12700">
            <a:solidFill>
              <a:srgbClr val="6B4A9E"/>
            </a:solidFill>
            <a:prstDash val="solid"/>
          </a:ln>
        </p:spPr>
      </p:sp>
      <p:sp>
        <p:nvSpPr>
          <p:cNvPr id="12" name="Text 10"/>
          <p:cNvSpPr/>
          <p:nvPr/>
        </p:nvSpPr>
        <p:spPr>
          <a:xfrm>
            <a:off x="6492240" y="1901952"/>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13" name="Text 11"/>
          <p:cNvSpPr/>
          <p:nvPr/>
        </p:nvSpPr>
        <p:spPr>
          <a:xfrm>
            <a:off x="7132320" y="1874520"/>
            <a:ext cx="4206240" cy="548640"/>
          </a:xfrm>
          <a:prstGeom prst="rect">
            <a:avLst/>
          </a:prstGeom>
          <a:noFill/>
          <a:ln/>
        </p:spPr>
        <p:txBody>
          <a:bodyPr wrap="square" lIns="0" tIns="0" rIns="0" bIns="0" rtlCol="0" anchor="ctr"/>
          <a:lstStyle/>
          <a:p>
            <a:pPr indent="0" marL="0">
              <a:buNone/>
            </a:pPr>
            <a:r>
              <a:rPr lang="en-US" sz="2000" b="1" dirty="0">
                <a:solidFill>
                  <a:srgbClr val="1E2761"/>
                </a:solidFill>
                <a:latin typeface="Cambria" pitchFamily="34" charset="0"/>
                <a:ea typeface="Cambria" pitchFamily="34" charset="-122"/>
                <a:cs typeface="Cambria" pitchFamily="34" charset="-120"/>
              </a:rPr>
              <a:t>Christianity &amp; Buddhism</a:t>
            </a:r>
            <a:endParaRPr lang="en-US" sz="2000" dirty="0"/>
          </a:p>
        </p:txBody>
      </p:sp>
      <p:sp>
        <p:nvSpPr>
          <p:cNvPr id="14" name="Text 12"/>
          <p:cNvSpPr/>
          <p:nvPr/>
        </p:nvSpPr>
        <p:spPr>
          <a:xfrm>
            <a:off x="6492240" y="2606040"/>
            <a:ext cx="4800600" cy="685800"/>
          </a:xfrm>
          <a:prstGeom prst="rect">
            <a:avLst/>
          </a:prstGeom>
          <a:noFill/>
          <a:ln/>
        </p:spPr>
        <p:txBody>
          <a:bodyPr wrap="square" lIns="0" tIns="0" rIns="0" bIns="0" rtlCol="0" anchor="t"/>
          <a:lstStyle/>
          <a:p>
            <a:pPr indent="0" marL="0">
              <a:lnSpc>
                <a:spcPct val="100000"/>
              </a:lnSpc>
              <a:buNone/>
            </a:pPr>
            <a:r>
              <a:rPr lang="en-US" sz="1600" b="1" dirty="0">
                <a:solidFill>
                  <a:srgbClr val="6B4A9E"/>
                </a:solidFill>
                <a:latin typeface="Cambria" pitchFamily="34" charset="0"/>
                <a:ea typeface="Cambria" pitchFamily="34" charset="-122"/>
                <a:cs typeface="Cambria" pitchFamily="34" charset="-120"/>
              </a:rPr>
              <a:t>Both state their central beliefs in a well formulated doctrine.</a:t>
            </a:r>
            <a:endParaRPr lang="en-US" sz="1600" dirty="0"/>
          </a:p>
        </p:txBody>
      </p:sp>
      <p:sp>
        <p:nvSpPr>
          <p:cNvPr id="15" name="Text 13"/>
          <p:cNvSpPr/>
          <p:nvPr/>
        </p:nvSpPr>
        <p:spPr>
          <a:xfrm>
            <a:off x="6492240" y="3429000"/>
            <a:ext cx="4800600" cy="2194560"/>
          </a:xfrm>
          <a:prstGeom prst="rect">
            <a:avLst/>
          </a:prstGeom>
          <a:noFill/>
          <a:ln/>
        </p:spPr>
        <p:txBody>
          <a:bodyPr wrap="square" lIns="0" tIns="0" rIns="0" bIns="0" rtlCol="0" anchor="t"/>
          <a:lstStyle/>
          <a:p>
            <a:pPr indent="0" marL="0">
              <a:lnSpc>
                <a:spcPct val="110000"/>
              </a:lnSpc>
              <a:buNone/>
            </a:pPr>
            <a:r>
              <a:rPr lang="en-US" sz="1300" dirty="0">
                <a:solidFill>
                  <a:srgbClr val="20242E"/>
                </a:solidFill>
                <a:latin typeface="Calibri" pitchFamily="34" charset="0"/>
                <a:ea typeface="Calibri" pitchFamily="34" charset="-122"/>
                <a:cs typeface="Calibri" pitchFamily="34" charset="-120"/>
              </a:rPr>
              <a:t>Chapter 1 says that Buddhism and Christianity have well formulated doctrines. The Apostles' Creed is the formal statement of Christian beliefs, and the Four Noble Truths and the Noble Eightfold Path are clearly delineated Buddhist doctrines. Both traditions put their core truths into a fixed statement that every adherent can learn.</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10972800" cy="658368"/>
          </a:xfrm>
          <a:prstGeom prst="rect">
            <a:avLst/>
          </a:prstGeom>
          <a:noFill/>
          <a:ln/>
        </p:spPr>
        <p:txBody>
          <a:bodyPr wrap="square" lIns="0" tIns="0" rIns="0" bIns="0"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Part 2: Key Terms Defined</a:t>
            </a:r>
            <a:endParaRPr lang="en-US" sz="2800" dirty="0"/>
          </a:p>
        </p:txBody>
      </p:sp>
      <p:sp>
        <p:nvSpPr>
          <p:cNvPr id="3" name="Text 1"/>
          <p:cNvSpPr/>
          <p:nvPr/>
        </p:nvSpPr>
        <p:spPr>
          <a:xfrm>
            <a:off x="640080" y="1042416"/>
            <a:ext cx="10972800" cy="310896"/>
          </a:xfrm>
          <a:prstGeom prst="rect">
            <a:avLst/>
          </a:prstGeom>
          <a:noFill/>
          <a:ln/>
        </p:spPr>
        <p:txBody>
          <a:bodyPr wrap="square" lIns="0" tIns="0" rIns="0" bIns="0" rtlCol="0" anchor="ctr"/>
          <a:lstStyle/>
          <a:p>
            <a:pPr indent="0" marL="0">
              <a:buNone/>
            </a:pPr>
            <a:r>
              <a:rPr lang="en-US" sz="1350" i="1" dirty="0">
                <a:solidFill>
                  <a:srgbClr val="5B6274"/>
                </a:solidFill>
                <a:latin typeface="Calibri" pitchFamily="34" charset="0"/>
                <a:ea typeface="Calibri" pitchFamily="34" charset="-122"/>
                <a:cs typeface="Calibri" pitchFamily="34" charset="-120"/>
              </a:rPr>
              <a:t>As explained in Chapter 1 of the textbook</a:t>
            </a:r>
            <a:endParaRPr lang="en-US" sz="1350" dirty="0"/>
          </a:p>
        </p:txBody>
      </p:sp>
      <p:sp>
        <p:nvSpPr>
          <p:cNvPr id="4" name="Shape 2"/>
          <p:cNvSpPr/>
          <p:nvPr/>
        </p:nvSpPr>
        <p:spPr>
          <a:xfrm>
            <a:off x="548640" y="1572768"/>
            <a:ext cx="5440680" cy="2103120"/>
          </a:xfrm>
          <a:prstGeom prst="roundRect">
            <a:avLst>
              <a:gd name="adj" fmla="val 2609"/>
            </a:avLst>
          </a:prstGeom>
          <a:solidFill>
            <a:srgbClr val="F0F2F8"/>
          </a:solidFill>
          <a:ln w="12700">
            <a:solidFill>
              <a:srgbClr val="F0F2F8"/>
            </a:solidFill>
            <a:prstDash val="solid"/>
          </a:ln>
          <a:effectLst>
            <a:outerShdw sx="100000" sy="100000" kx="0" ky="0" algn="bl" rotWithShape="0" blurRad="127000" dist="25400" dir="5400000">
              <a:srgbClr val="9AA1B5">
                <a:alpha val="30000"/>
              </a:srgbClr>
            </a:outerShdw>
          </a:effectLst>
        </p:spPr>
      </p:sp>
      <p:sp>
        <p:nvSpPr>
          <p:cNvPr id="5" name="Shape 3"/>
          <p:cNvSpPr/>
          <p:nvPr/>
        </p:nvSpPr>
        <p:spPr>
          <a:xfrm>
            <a:off x="841248" y="1810512"/>
            <a:ext cx="457200" cy="457200"/>
          </a:xfrm>
          <a:prstGeom prst="ellipse">
            <a:avLst/>
          </a:prstGeom>
          <a:solidFill>
            <a:srgbClr val="BF5637"/>
          </a:solidFill>
          <a:ln w="12700">
            <a:solidFill>
              <a:srgbClr val="BF5637"/>
            </a:solidFill>
            <a:prstDash val="solid"/>
          </a:ln>
        </p:spPr>
      </p:sp>
      <p:sp>
        <p:nvSpPr>
          <p:cNvPr id="6" name="Text 4"/>
          <p:cNvSpPr/>
          <p:nvPr/>
        </p:nvSpPr>
        <p:spPr>
          <a:xfrm>
            <a:off x="841248" y="181051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a:t>
            </a:r>
            <a:endParaRPr lang="en-US" sz="1500" dirty="0"/>
          </a:p>
        </p:txBody>
      </p:sp>
      <p:sp>
        <p:nvSpPr>
          <p:cNvPr id="7" name="Text 5"/>
          <p:cNvSpPr/>
          <p:nvPr/>
        </p:nvSpPr>
        <p:spPr>
          <a:xfrm>
            <a:off x="1417320" y="1773936"/>
            <a:ext cx="4297680" cy="530352"/>
          </a:xfrm>
          <a:prstGeom prst="rect">
            <a:avLst/>
          </a:prstGeom>
          <a:noFill/>
          <a:ln/>
        </p:spPr>
        <p:txBody>
          <a:bodyPr wrap="square" lIns="0" tIns="0" rIns="0" bIns="0" rtlCol="0" anchor="ctr"/>
          <a:lstStyle/>
          <a:p>
            <a:pPr indent="0" marL="0">
              <a:buNone/>
            </a:pPr>
            <a:r>
              <a:rPr lang="en-US" sz="1900" b="1" dirty="0">
                <a:solidFill>
                  <a:srgbClr val="1E2761"/>
                </a:solidFill>
                <a:latin typeface="Cambria" pitchFamily="34" charset="0"/>
                <a:ea typeface="Cambria" pitchFamily="34" charset="-122"/>
                <a:cs typeface="Cambria" pitchFamily="34" charset="-120"/>
              </a:rPr>
              <a:t>Religion</a:t>
            </a:r>
            <a:endParaRPr lang="en-US" sz="1900" dirty="0"/>
          </a:p>
        </p:txBody>
      </p:sp>
      <p:sp>
        <p:nvSpPr>
          <p:cNvPr id="8" name="Text 6"/>
          <p:cNvSpPr/>
          <p:nvPr/>
        </p:nvSpPr>
        <p:spPr>
          <a:xfrm>
            <a:off x="841248" y="2377440"/>
            <a:ext cx="4892040" cy="1188720"/>
          </a:xfrm>
          <a:prstGeom prst="rect">
            <a:avLst/>
          </a:prstGeom>
          <a:noFill/>
          <a:ln/>
        </p:spPr>
        <p:txBody>
          <a:bodyPr wrap="square" lIns="0" tIns="0" rIns="0" bIns="0" rtlCol="0" anchor="t"/>
          <a:lstStyle/>
          <a:p>
            <a:pPr indent="0" marL="0">
              <a:lnSpc>
                <a:spcPct val="106000"/>
              </a:lnSpc>
              <a:buNone/>
            </a:pPr>
            <a:r>
              <a:rPr lang="en-US" sz="1150" dirty="0">
                <a:solidFill>
                  <a:srgbClr val="20242E"/>
                </a:solidFill>
                <a:latin typeface="Calibri" pitchFamily="34" charset="0"/>
                <a:ea typeface="Calibri" pitchFamily="34" charset="-122"/>
                <a:cs typeface="Calibri" pitchFamily="34" charset="-120"/>
              </a:rPr>
              <a:t>The word comes from the Latin religare, meaning "to bind." A person or community binds itself to something worthy of reverence and respect, and obligations come with those ties. The textbook calls a single definition elusive, because the spectrum of religious expression is vast.</a:t>
            </a:r>
            <a:endParaRPr lang="en-US" sz="1150" dirty="0"/>
          </a:p>
        </p:txBody>
      </p:sp>
      <p:sp>
        <p:nvSpPr>
          <p:cNvPr id="9" name="Shape 7"/>
          <p:cNvSpPr/>
          <p:nvPr/>
        </p:nvSpPr>
        <p:spPr>
          <a:xfrm>
            <a:off x="6172200" y="1572768"/>
            <a:ext cx="5440680" cy="2103120"/>
          </a:xfrm>
          <a:prstGeom prst="roundRect">
            <a:avLst>
              <a:gd name="adj" fmla="val 2609"/>
            </a:avLst>
          </a:prstGeom>
          <a:solidFill>
            <a:srgbClr val="F0F2F8"/>
          </a:solidFill>
          <a:ln w="12700">
            <a:solidFill>
              <a:srgbClr val="F0F2F8"/>
            </a:solidFill>
            <a:prstDash val="solid"/>
          </a:ln>
          <a:effectLst>
            <a:outerShdw sx="100000" sy="100000" kx="0" ky="0" algn="bl" rotWithShape="0" blurRad="127000" dist="25400" dir="5400000">
              <a:srgbClr val="9AA1B5">
                <a:alpha val="30000"/>
              </a:srgbClr>
            </a:outerShdw>
          </a:effectLst>
        </p:spPr>
      </p:sp>
      <p:sp>
        <p:nvSpPr>
          <p:cNvPr id="10" name="Shape 8"/>
          <p:cNvSpPr/>
          <p:nvPr/>
        </p:nvSpPr>
        <p:spPr>
          <a:xfrm>
            <a:off x="6464808" y="1810512"/>
            <a:ext cx="457200" cy="457200"/>
          </a:xfrm>
          <a:prstGeom prst="ellipse">
            <a:avLst/>
          </a:prstGeom>
          <a:solidFill>
            <a:srgbClr val="1C7293"/>
          </a:solidFill>
          <a:ln w="12700">
            <a:solidFill>
              <a:srgbClr val="1C7293"/>
            </a:solidFill>
            <a:prstDash val="solid"/>
          </a:ln>
        </p:spPr>
      </p:sp>
      <p:sp>
        <p:nvSpPr>
          <p:cNvPr id="11" name="Text 9"/>
          <p:cNvSpPr/>
          <p:nvPr/>
        </p:nvSpPr>
        <p:spPr>
          <a:xfrm>
            <a:off x="6464808" y="181051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b</a:t>
            </a:r>
            <a:endParaRPr lang="en-US" sz="1500" dirty="0"/>
          </a:p>
        </p:txBody>
      </p:sp>
      <p:sp>
        <p:nvSpPr>
          <p:cNvPr id="12" name="Text 10"/>
          <p:cNvSpPr/>
          <p:nvPr/>
        </p:nvSpPr>
        <p:spPr>
          <a:xfrm>
            <a:off x="7040880" y="1773936"/>
            <a:ext cx="4297680" cy="530352"/>
          </a:xfrm>
          <a:prstGeom prst="rect">
            <a:avLst/>
          </a:prstGeom>
          <a:noFill/>
          <a:ln/>
        </p:spPr>
        <p:txBody>
          <a:bodyPr wrap="square" lIns="0" tIns="0" rIns="0" bIns="0" rtlCol="0" anchor="ctr"/>
          <a:lstStyle/>
          <a:p>
            <a:pPr indent="0" marL="0">
              <a:buNone/>
            </a:pPr>
            <a:r>
              <a:rPr lang="en-US" sz="1900" b="1" dirty="0">
                <a:solidFill>
                  <a:srgbClr val="1E2761"/>
                </a:solidFill>
                <a:latin typeface="Cambria" pitchFamily="34" charset="0"/>
                <a:ea typeface="Cambria" pitchFamily="34" charset="-122"/>
                <a:cs typeface="Cambria" pitchFamily="34" charset="-120"/>
              </a:rPr>
              <a:t>Ecumenism</a:t>
            </a:r>
            <a:endParaRPr lang="en-US" sz="1900" dirty="0"/>
          </a:p>
        </p:txBody>
      </p:sp>
      <p:sp>
        <p:nvSpPr>
          <p:cNvPr id="13" name="Text 11"/>
          <p:cNvSpPr/>
          <p:nvPr/>
        </p:nvSpPr>
        <p:spPr>
          <a:xfrm>
            <a:off x="6464808" y="2377440"/>
            <a:ext cx="4892040" cy="1188720"/>
          </a:xfrm>
          <a:prstGeom prst="rect">
            <a:avLst/>
          </a:prstGeom>
          <a:noFill/>
          <a:ln/>
        </p:spPr>
        <p:txBody>
          <a:bodyPr wrap="square" lIns="0" tIns="0" rIns="0" bIns="0" rtlCol="0" anchor="t"/>
          <a:lstStyle/>
          <a:p>
            <a:pPr indent="0" marL="0">
              <a:lnSpc>
                <a:spcPct val="106000"/>
              </a:lnSpc>
              <a:buNone/>
            </a:pPr>
            <a:r>
              <a:rPr lang="en-US" sz="1150" dirty="0">
                <a:solidFill>
                  <a:srgbClr val="20242E"/>
                </a:solidFill>
                <a:latin typeface="Calibri" pitchFamily="34" charset="0"/>
                <a:ea typeface="Calibri" pitchFamily="34" charset="-122"/>
                <a:cs typeface="Calibri" pitchFamily="34" charset="-120"/>
              </a:rPr>
              <a:t>"The movement, inspired and led by the Holy Spirit, that seeks the union of all Christian faiths and eventually the unity of all peoples throughout the world."</a:t>
            </a:r>
            <a:endParaRPr lang="en-US" sz="1150" dirty="0"/>
          </a:p>
        </p:txBody>
      </p:sp>
      <p:sp>
        <p:nvSpPr>
          <p:cNvPr id="14" name="Shape 12"/>
          <p:cNvSpPr/>
          <p:nvPr/>
        </p:nvSpPr>
        <p:spPr>
          <a:xfrm>
            <a:off x="548640" y="3813048"/>
            <a:ext cx="5440680" cy="2103120"/>
          </a:xfrm>
          <a:prstGeom prst="roundRect">
            <a:avLst>
              <a:gd name="adj" fmla="val 2609"/>
            </a:avLst>
          </a:prstGeom>
          <a:solidFill>
            <a:srgbClr val="F0F2F8"/>
          </a:solidFill>
          <a:ln w="12700">
            <a:solidFill>
              <a:srgbClr val="F0F2F8"/>
            </a:solidFill>
            <a:prstDash val="solid"/>
          </a:ln>
          <a:effectLst>
            <a:outerShdw sx="100000" sy="100000" kx="0" ky="0" algn="bl" rotWithShape="0" blurRad="127000" dist="25400" dir="5400000">
              <a:srgbClr val="9AA1B5">
                <a:alpha val="30000"/>
              </a:srgbClr>
            </a:outerShdw>
          </a:effectLst>
        </p:spPr>
      </p:sp>
      <p:sp>
        <p:nvSpPr>
          <p:cNvPr id="15" name="Shape 13"/>
          <p:cNvSpPr/>
          <p:nvPr/>
        </p:nvSpPr>
        <p:spPr>
          <a:xfrm>
            <a:off x="841248" y="4050792"/>
            <a:ext cx="457200" cy="457200"/>
          </a:xfrm>
          <a:prstGeom prst="ellipse">
            <a:avLst/>
          </a:prstGeom>
          <a:solidFill>
            <a:srgbClr val="C69A3E"/>
          </a:solidFill>
          <a:ln w="12700">
            <a:solidFill>
              <a:srgbClr val="C69A3E"/>
            </a:solidFill>
            <a:prstDash val="solid"/>
          </a:ln>
        </p:spPr>
      </p:sp>
      <p:sp>
        <p:nvSpPr>
          <p:cNvPr id="16" name="Text 14"/>
          <p:cNvSpPr/>
          <p:nvPr/>
        </p:nvSpPr>
        <p:spPr>
          <a:xfrm>
            <a:off x="841248" y="405079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c</a:t>
            </a:r>
            <a:endParaRPr lang="en-US" sz="1500" dirty="0"/>
          </a:p>
        </p:txBody>
      </p:sp>
      <p:sp>
        <p:nvSpPr>
          <p:cNvPr id="17" name="Text 15"/>
          <p:cNvSpPr/>
          <p:nvPr/>
        </p:nvSpPr>
        <p:spPr>
          <a:xfrm>
            <a:off x="1417320" y="4014216"/>
            <a:ext cx="4297680" cy="530352"/>
          </a:xfrm>
          <a:prstGeom prst="rect">
            <a:avLst/>
          </a:prstGeom>
          <a:noFill/>
          <a:ln/>
        </p:spPr>
        <p:txBody>
          <a:bodyPr wrap="square" lIns="0" tIns="0" rIns="0" bIns="0" rtlCol="0" anchor="ctr"/>
          <a:lstStyle/>
          <a:p>
            <a:pPr indent="0" marL="0">
              <a:buNone/>
            </a:pPr>
            <a:r>
              <a:rPr lang="en-US" sz="1900" b="1" dirty="0">
                <a:solidFill>
                  <a:srgbClr val="1E2761"/>
                </a:solidFill>
                <a:latin typeface="Cambria" pitchFamily="34" charset="0"/>
                <a:ea typeface="Cambria" pitchFamily="34" charset="-122"/>
                <a:cs typeface="Cambria" pitchFamily="34" charset="-120"/>
              </a:rPr>
              <a:t>Evangelization</a:t>
            </a:r>
            <a:endParaRPr lang="en-US" sz="1900" dirty="0"/>
          </a:p>
        </p:txBody>
      </p:sp>
      <p:sp>
        <p:nvSpPr>
          <p:cNvPr id="18" name="Text 16"/>
          <p:cNvSpPr/>
          <p:nvPr/>
        </p:nvSpPr>
        <p:spPr>
          <a:xfrm>
            <a:off x="841248" y="4617720"/>
            <a:ext cx="4892040" cy="1188720"/>
          </a:xfrm>
          <a:prstGeom prst="rect">
            <a:avLst/>
          </a:prstGeom>
          <a:noFill/>
          <a:ln/>
        </p:spPr>
        <p:txBody>
          <a:bodyPr wrap="square" lIns="0" tIns="0" rIns="0" bIns="0" rtlCol="0" anchor="t"/>
          <a:lstStyle/>
          <a:p>
            <a:pPr indent="0" marL="0">
              <a:lnSpc>
                <a:spcPct val="106000"/>
              </a:lnSpc>
              <a:buNone/>
            </a:pPr>
            <a:r>
              <a:rPr lang="en-US" sz="1150" dirty="0">
                <a:solidFill>
                  <a:srgbClr val="20242E"/>
                </a:solidFill>
                <a:latin typeface="Calibri" pitchFamily="34" charset="0"/>
                <a:ea typeface="Calibri" pitchFamily="34" charset="-122"/>
                <a:cs typeface="Calibri" pitchFamily="34" charset="-120"/>
              </a:rPr>
              <a:t>"From the Greek root word translated into English as 'Gospel'; the 'sharing of the Good News.'" All baptized Catholics are called to share the Gospel of Jesus Christ with the world.</a:t>
            </a:r>
            <a:endParaRPr lang="en-US" sz="1150" dirty="0"/>
          </a:p>
        </p:txBody>
      </p:sp>
      <p:sp>
        <p:nvSpPr>
          <p:cNvPr id="19" name="Shape 17"/>
          <p:cNvSpPr/>
          <p:nvPr/>
        </p:nvSpPr>
        <p:spPr>
          <a:xfrm>
            <a:off x="6172200" y="3813048"/>
            <a:ext cx="5440680" cy="2103120"/>
          </a:xfrm>
          <a:prstGeom prst="roundRect">
            <a:avLst>
              <a:gd name="adj" fmla="val 2609"/>
            </a:avLst>
          </a:prstGeom>
          <a:solidFill>
            <a:srgbClr val="F0F2F8"/>
          </a:solidFill>
          <a:ln w="12700">
            <a:solidFill>
              <a:srgbClr val="F0F2F8"/>
            </a:solidFill>
            <a:prstDash val="solid"/>
          </a:ln>
          <a:effectLst>
            <a:outerShdw sx="100000" sy="100000" kx="0" ky="0" algn="bl" rotWithShape="0" blurRad="127000" dist="25400" dir="5400000">
              <a:srgbClr val="9AA1B5">
                <a:alpha val="30000"/>
              </a:srgbClr>
            </a:outerShdw>
          </a:effectLst>
        </p:spPr>
      </p:sp>
      <p:sp>
        <p:nvSpPr>
          <p:cNvPr id="20" name="Shape 18"/>
          <p:cNvSpPr/>
          <p:nvPr/>
        </p:nvSpPr>
        <p:spPr>
          <a:xfrm>
            <a:off x="6464808" y="4050792"/>
            <a:ext cx="457200" cy="457200"/>
          </a:xfrm>
          <a:prstGeom prst="ellipse">
            <a:avLst/>
          </a:prstGeom>
          <a:solidFill>
            <a:srgbClr val="6B4A9E"/>
          </a:solidFill>
          <a:ln w="12700">
            <a:solidFill>
              <a:srgbClr val="6B4A9E"/>
            </a:solidFill>
            <a:prstDash val="solid"/>
          </a:ln>
        </p:spPr>
      </p:sp>
      <p:sp>
        <p:nvSpPr>
          <p:cNvPr id="21" name="Text 19"/>
          <p:cNvSpPr/>
          <p:nvPr/>
        </p:nvSpPr>
        <p:spPr>
          <a:xfrm>
            <a:off x="6464808" y="405079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d</a:t>
            </a:r>
            <a:endParaRPr lang="en-US" sz="1500" dirty="0"/>
          </a:p>
        </p:txBody>
      </p:sp>
      <p:sp>
        <p:nvSpPr>
          <p:cNvPr id="22" name="Text 20"/>
          <p:cNvSpPr/>
          <p:nvPr/>
        </p:nvSpPr>
        <p:spPr>
          <a:xfrm>
            <a:off x="7040880" y="4014216"/>
            <a:ext cx="4297680" cy="530352"/>
          </a:xfrm>
          <a:prstGeom prst="rect">
            <a:avLst/>
          </a:prstGeom>
          <a:noFill/>
          <a:ln/>
        </p:spPr>
        <p:txBody>
          <a:bodyPr wrap="square" lIns="0" tIns="0" rIns="0" bIns="0" rtlCol="0" anchor="ctr"/>
          <a:lstStyle/>
          <a:p>
            <a:pPr indent="0" marL="0">
              <a:buNone/>
            </a:pPr>
            <a:r>
              <a:rPr lang="en-US" sz="1900" b="1" dirty="0">
                <a:solidFill>
                  <a:srgbClr val="1E2761"/>
                </a:solidFill>
                <a:latin typeface="Cambria" pitchFamily="34" charset="0"/>
                <a:ea typeface="Cambria" pitchFamily="34" charset="-122"/>
                <a:cs typeface="Cambria" pitchFamily="34" charset="-120"/>
              </a:rPr>
              <a:t>Myths</a:t>
            </a:r>
            <a:endParaRPr lang="en-US" sz="1900" dirty="0"/>
          </a:p>
        </p:txBody>
      </p:sp>
      <p:sp>
        <p:nvSpPr>
          <p:cNvPr id="23" name="Text 21"/>
          <p:cNvSpPr/>
          <p:nvPr/>
        </p:nvSpPr>
        <p:spPr>
          <a:xfrm>
            <a:off x="6464808" y="4617720"/>
            <a:ext cx="4892040" cy="1188720"/>
          </a:xfrm>
          <a:prstGeom prst="rect">
            <a:avLst/>
          </a:prstGeom>
          <a:noFill/>
          <a:ln/>
        </p:spPr>
        <p:txBody>
          <a:bodyPr wrap="square" lIns="0" tIns="0" rIns="0" bIns="0" rtlCol="0" anchor="t"/>
          <a:lstStyle/>
          <a:p>
            <a:pPr indent="0" marL="0">
              <a:lnSpc>
                <a:spcPct val="106000"/>
              </a:lnSpc>
              <a:buNone/>
            </a:pPr>
            <a:r>
              <a:rPr lang="en-US" sz="1150" dirty="0">
                <a:solidFill>
                  <a:srgbClr val="20242E"/>
                </a:solidFill>
                <a:latin typeface="Calibri" pitchFamily="34" charset="0"/>
                <a:ea typeface="Calibri" pitchFamily="34" charset="-122"/>
                <a:cs typeface="Calibri" pitchFamily="34" charset="-120"/>
              </a:rPr>
              <a:t>"Traditional or ancient stories that help explain a people's creation, customs, and/or ideals." The textbook adds that they are not true stories but truth stories that aim to convey sacred truths.</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10972800" cy="658368"/>
          </a:xfrm>
          <a:prstGeom prst="rect">
            <a:avLst/>
          </a:prstGeom>
          <a:noFill/>
          <a:ln/>
        </p:spPr>
        <p:txBody>
          <a:bodyPr wrap="square" lIns="0" tIns="0" rIns="0" bIns="0"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Part 2: Three Reasons to Study the World's Religions</a:t>
            </a:r>
            <a:endParaRPr lang="en-US" sz="2800" dirty="0"/>
          </a:p>
        </p:txBody>
      </p:sp>
      <p:sp>
        <p:nvSpPr>
          <p:cNvPr id="3" name="Text 1"/>
          <p:cNvSpPr/>
          <p:nvPr/>
        </p:nvSpPr>
        <p:spPr>
          <a:xfrm>
            <a:off x="640080" y="1042416"/>
            <a:ext cx="10972800" cy="310896"/>
          </a:xfrm>
          <a:prstGeom prst="rect">
            <a:avLst/>
          </a:prstGeom>
          <a:noFill/>
          <a:ln/>
        </p:spPr>
        <p:txBody>
          <a:bodyPr wrap="square" lIns="0" tIns="0" rIns="0" bIns="0" rtlCol="0" anchor="ctr"/>
          <a:lstStyle/>
          <a:p>
            <a:pPr indent="0" marL="0">
              <a:buNone/>
            </a:pPr>
            <a:r>
              <a:rPr lang="en-US" sz="1350" i="1" dirty="0">
                <a:solidFill>
                  <a:srgbClr val="5B6274"/>
                </a:solidFill>
                <a:latin typeface="Calibri" pitchFamily="34" charset="0"/>
                <a:ea typeface="Calibri" pitchFamily="34" charset="-122"/>
                <a:cs typeface="Calibri" pitchFamily="34" charset="-120"/>
              </a:rPr>
              <a:t>Reasons listed in Chapter 1</a:t>
            </a:r>
            <a:endParaRPr lang="en-US" sz="1350" dirty="0"/>
          </a:p>
        </p:txBody>
      </p:sp>
      <p:sp>
        <p:nvSpPr>
          <p:cNvPr id="4" name="Shape 2"/>
          <p:cNvSpPr/>
          <p:nvPr/>
        </p:nvSpPr>
        <p:spPr>
          <a:xfrm>
            <a:off x="548640" y="1645920"/>
            <a:ext cx="3593592" cy="3840480"/>
          </a:xfrm>
          <a:prstGeom prst="roundRect">
            <a:avLst>
              <a:gd name="adj" fmla="val 1527"/>
            </a:avLst>
          </a:prstGeom>
          <a:solidFill>
            <a:srgbClr val="F0F2F8"/>
          </a:solidFill>
          <a:ln w="12700">
            <a:solidFill>
              <a:srgbClr val="F0F2F8"/>
            </a:solidFill>
            <a:prstDash val="solid"/>
          </a:ln>
          <a:effectLst>
            <a:outerShdw sx="100000" sy="100000" kx="0" ky="0" algn="bl" rotWithShape="0" blurRad="127000" dist="25400" dir="5400000">
              <a:srgbClr val="9AA1B5">
                <a:alpha val="30000"/>
              </a:srgbClr>
            </a:outerShdw>
          </a:effectLst>
        </p:spPr>
      </p:sp>
      <p:sp>
        <p:nvSpPr>
          <p:cNvPr id="5" name="Shape 3"/>
          <p:cNvSpPr/>
          <p:nvPr/>
        </p:nvSpPr>
        <p:spPr>
          <a:xfrm>
            <a:off x="841248" y="1965960"/>
            <a:ext cx="640080" cy="640080"/>
          </a:xfrm>
          <a:prstGeom prst="ellipse">
            <a:avLst/>
          </a:prstGeom>
          <a:solidFill>
            <a:srgbClr val="BF5637"/>
          </a:solidFill>
          <a:ln w="12700">
            <a:solidFill>
              <a:srgbClr val="BF5637"/>
            </a:solidFill>
            <a:prstDash val="solid"/>
          </a:ln>
        </p:spPr>
      </p:sp>
      <p:sp>
        <p:nvSpPr>
          <p:cNvPr id="6" name="Text 4"/>
          <p:cNvSpPr/>
          <p:nvPr/>
        </p:nvSpPr>
        <p:spPr>
          <a:xfrm>
            <a:off x="841248" y="1965960"/>
            <a:ext cx="640080" cy="64008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7" name="Text 5"/>
          <p:cNvSpPr/>
          <p:nvPr/>
        </p:nvSpPr>
        <p:spPr>
          <a:xfrm>
            <a:off x="841248" y="2788920"/>
            <a:ext cx="3017520" cy="868680"/>
          </a:xfrm>
          <a:prstGeom prst="rect">
            <a:avLst/>
          </a:prstGeom>
          <a:noFill/>
          <a:ln/>
        </p:spPr>
        <p:txBody>
          <a:bodyPr wrap="square" lIns="0" tIns="0" rIns="0" bIns="0" rtlCol="0" anchor="t"/>
          <a:lstStyle/>
          <a:p>
            <a:pPr indent="0" marL="0">
              <a:lnSpc>
                <a:spcPct val="102000"/>
              </a:lnSpc>
              <a:buNone/>
            </a:pPr>
            <a:r>
              <a:rPr lang="en-US" sz="1700" b="1" dirty="0">
                <a:solidFill>
                  <a:srgbClr val="1E2761"/>
                </a:solidFill>
                <a:latin typeface="Cambria" pitchFamily="34" charset="0"/>
                <a:ea typeface="Cambria" pitchFamily="34" charset="-122"/>
                <a:cs typeface="Cambria" pitchFamily="34" charset="-120"/>
              </a:rPr>
              <a:t>To understand your own tradition</a:t>
            </a:r>
            <a:endParaRPr lang="en-US" sz="1700" dirty="0"/>
          </a:p>
        </p:txBody>
      </p:sp>
      <p:sp>
        <p:nvSpPr>
          <p:cNvPr id="8" name="Text 6"/>
          <p:cNvSpPr/>
          <p:nvPr/>
        </p:nvSpPr>
        <p:spPr>
          <a:xfrm>
            <a:off x="841248" y="3703320"/>
            <a:ext cx="3017520" cy="1600200"/>
          </a:xfrm>
          <a:prstGeom prst="rect">
            <a:avLst/>
          </a:prstGeom>
          <a:noFill/>
          <a:ln/>
        </p:spPr>
        <p:txBody>
          <a:bodyPr wrap="square" lIns="0" tIns="0" rIns="0" bIns="0" rtlCol="0" anchor="t"/>
          <a:lstStyle/>
          <a:p>
            <a:pPr indent="0" marL="0">
              <a:lnSpc>
                <a:spcPct val="108000"/>
              </a:lnSpc>
              <a:buNone/>
            </a:pPr>
            <a:r>
              <a:rPr lang="en-US" sz="1200" dirty="0">
                <a:solidFill>
                  <a:srgbClr val="20242E"/>
                </a:solidFill>
                <a:latin typeface="Calibri" pitchFamily="34" charset="0"/>
                <a:ea typeface="Calibri" pitchFamily="34" charset="-122"/>
                <a:cs typeface="Calibri" pitchFamily="34" charset="-120"/>
              </a:rPr>
              <a:t>Studying other traditions gives you a clearer understanding of your own religious tradition, "which in turn allows more commitment to and thus growth in your own religious tradition."</a:t>
            </a:r>
            <a:endParaRPr lang="en-US" sz="1200" dirty="0"/>
          </a:p>
        </p:txBody>
      </p:sp>
      <p:sp>
        <p:nvSpPr>
          <p:cNvPr id="9" name="Shape 7"/>
          <p:cNvSpPr/>
          <p:nvPr/>
        </p:nvSpPr>
        <p:spPr>
          <a:xfrm>
            <a:off x="4325112" y="1645920"/>
            <a:ext cx="3593592" cy="3840480"/>
          </a:xfrm>
          <a:prstGeom prst="roundRect">
            <a:avLst>
              <a:gd name="adj" fmla="val 1527"/>
            </a:avLst>
          </a:prstGeom>
          <a:solidFill>
            <a:srgbClr val="F0F2F8"/>
          </a:solidFill>
          <a:ln w="12700">
            <a:solidFill>
              <a:srgbClr val="F0F2F8"/>
            </a:solidFill>
            <a:prstDash val="solid"/>
          </a:ln>
          <a:effectLst>
            <a:outerShdw sx="100000" sy="100000" kx="0" ky="0" algn="bl" rotWithShape="0" blurRad="127000" dist="25400" dir="5400000">
              <a:srgbClr val="9AA1B5">
                <a:alpha val="30000"/>
              </a:srgbClr>
            </a:outerShdw>
          </a:effectLst>
        </p:spPr>
      </p:sp>
      <p:sp>
        <p:nvSpPr>
          <p:cNvPr id="10" name="Shape 8"/>
          <p:cNvSpPr/>
          <p:nvPr/>
        </p:nvSpPr>
        <p:spPr>
          <a:xfrm>
            <a:off x="4617720" y="1965960"/>
            <a:ext cx="640080" cy="640080"/>
          </a:xfrm>
          <a:prstGeom prst="ellipse">
            <a:avLst/>
          </a:prstGeom>
          <a:solidFill>
            <a:srgbClr val="1C7293"/>
          </a:solidFill>
          <a:ln w="12700">
            <a:solidFill>
              <a:srgbClr val="1C7293"/>
            </a:solidFill>
            <a:prstDash val="solid"/>
          </a:ln>
        </p:spPr>
      </p:sp>
      <p:sp>
        <p:nvSpPr>
          <p:cNvPr id="11" name="Text 9"/>
          <p:cNvSpPr/>
          <p:nvPr/>
        </p:nvSpPr>
        <p:spPr>
          <a:xfrm>
            <a:off x="4617720" y="1965960"/>
            <a:ext cx="640080" cy="64008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2" name="Text 10"/>
          <p:cNvSpPr/>
          <p:nvPr/>
        </p:nvSpPr>
        <p:spPr>
          <a:xfrm>
            <a:off x="4617720" y="2788920"/>
            <a:ext cx="3017520" cy="868680"/>
          </a:xfrm>
          <a:prstGeom prst="rect">
            <a:avLst/>
          </a:prstGeom>
          <a:noFill/>
          <a:ln/>
        </p:spPr>
        <p:txBody>
          <a:bodyPr wrap="square" lIns="0" tIns="0" rIns="0" bIns="0" rtlCol="0" anchor="t"/>
          <a:lstStyle/>
          <a:p>
            <a:pPr indent="0" marL="0">
              <a:lnSpc>
                <a:spcPct val="102000"/>
              </a:lnSpc>
              <a:buNone/>
            </a:pPr>
            <a:r>
              <a:rPr lang="en-US" sz="1700" b="1" dirty="0">
                <a:solidFill>
                  <a:srgbClr val="1E2761"/>
                </a:solidFill>
                <a:latin typeface="Cambria" pitchFamily="34" charset="0"/>
                <a:ea typeface="Cambria" pitchFamily="34" charset="-122"/>
                <a:cs typeface="Cambria" pitchFamily="34" charset="-120"/>
              </a:rPr>
              <a:t>To dispel fear and misunderstanding</a:t>
            </a:r>
            <a:endParaRPr lang="en-US" sz="1700" dirty="0"/>
          </a:p>
        </p:txBody>
      </p:sp>
      <p:sp>
        <p:nvSpPr>
          <p:cNvPr id="13" name="Text 11"/>
          <p:cNvSpPr/>
          <p:nvPr/>
        </p:nvSpPr>
        <p:spPr>
          <a:xfrm>
            <a:off x="4617720" y="3703320"/>
            <a:ext cx="3017520" cy="1600200"/>
          </a:xfrm>
          <a:prstGeom prst="rect">
            <a:avLst/>
          </a:prstGeom>
          <a:noFill/>
          <a:ln/>
        </p:spPr>
        <p:txBody>
          <a:bodyPr wrap="square" lIns="0" tIns="0" rIns="0" bIns="0" rtlCol="0" anchor="t"/>
          <a:lstStyle/>
          <a:p>
            <a:pPr indent="0" marL="0">
              <a:lnSpc>
                <a:spcPct val="108000"/>
              </a:lnSpc>
              <a:buNone/>
            </a:pPr>
            <a:r>
              <a:rPr lang="en-US" sz="1200" dirty="0">
                <a:solidFill>
                  <a:srgbClr val="20242E"/>
                </a:solidFill>
                <a:latin typeface="Calibri" pitchFamily="34" charset="0"/>
                <a:ea typeface="Calibri" pitchFamily="34" charset="-122"/>
                <a:cs typeface="Calibri" pitchFamily="34" charset="-120"/>
              </a:rPr>
              <a:t>It helps "dispel fears and misunderstandings relating to persons of other religious traditions" and makes us more open to and accepting of people who on the surface seem very different.</a:t>
            </a:r>
            <a:endParaRPr lang="en-US" sz="1200" dirty="0"/>
          </a:p>
        </p:txBody>
      </p:sp>
      <p:sp>
        <p:nvSpPr>
          <p:cNvPr id="14" name="Shape 12"/>
          <p:cNvSpPr/>
          <p:nvPr/>
        </p:nvSpPr>
        <p:spPr>
          <a:xfrm>
            <a:off x="8101584" y="1645920"/>
            <a:ext cx="3593592" cy="3840480"/>
          </a:xfrm>
          <a:prstGeom prst="roundRect">
            <a:avLst>
              <a:gd name="adj" fmla="val 1527"/>
            </a:avLst>
          </a:prstGeom>
          <a:solidFill>
            <a:srgbClr val="F0F2F8"/>
          </a:solidFill>
          <a:ln w="12700">
            <a:solidFill>
              <a:srgbClr val="F0F2F8"/>
            </a:solidFill>
            <a:prstDash val="solid"/>
          </a:ln>
          <a:effectLst>
            <a:outerShdw sx="100000" sy="100000" kx="0" ky="0" algn="bl" rotWithShape="0" blurRad="127000" dist="25400" dir="5400000">
              <a:srgbClr val="9AA1B5">
                <a:alpha val="30000"/>
              </a:srgbClr>
            </a:outerShdw>
          </a:effectLst>
        </p:spPr>
      </p:sp>
      <p:sp>
        <p:nvSpPr>
          <p:cNvPr id="15" name="Shape 13"/>
          <p:cNvSpPr/>
          <p:nvPr/>
        </p:nvSpPr>
        <p:spPr>
          <a:xfrm>
            <a:off x="8394192" y="1965960"/>
            <a:ext cx="640080" cy="640080"/>
          </a:xfrm>
          <a:prstGeom prst="ellipse">
            <a:avLst/>
          </a:prstGeom>
          <a:solidFill>
            <a:srgbClr val="C69A3E"/>
          </a:solidFill>
          <a:ln w="12700">
            <a:solidFill>
              <a:srgbClr val="C69A3E"/>
            </a:solidFill>
            <a:prstDash val="solid"/>
          </a:ln>
        </p:spPr>
      </p:sp>
      <p:sp>
        <p:nvSpPr>
          <p:cNvPr id="16" name="Text 14"/>
          <p:cNvSpPr/>
          <p:nvPr/>
        </p:nvSpPr>
        <p:spPr>
          <a:xfrm>
            <a:off x="8394192" y="1965960"/>
            <a:ext cx="640080" cy="64008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7" name="Text 15"/>
          <p:cNvSpPr/>
          <p:nvPr/>
        </p:nvSpPr>
        <p:spPr>
          <a:xfrm>
            <a:off x="8394192" y="2788920"/>
            <a:ext cx="3017520" cy="868680"/>
          </a:xfrm>
          <a:prstGeom prst="rect">
            <a:avLst/>
          </a:prstGeom>
          <a:noFill/>
          <a:ln/>
        </p:spPr>
        <p:txBody>
          <a:bodyPr wrap="square" lIns="0" tIns="0" rIns="0" bIns="0" rtlCol="0" anchor="t"/>
          <a:lstStyle/>
          <a:p>
            <a:pPr indent="0" marL="0">
              <a:lnSpc>
                <a:spcPct val="102000"/>
              </a:lnSpc>
              <a:buNone/>
            </a:pPr>
            <a:r>
              <a:rPr lang="en-US" sz="1700" b="1" dirty="0">
                <a:solidFill>
                  <a:srgbClr val="1E2761"/>
                </a:solidFill>
                <a:latin typeface="Cambria" pitchFamily="34" charset="0"/>
                <a:ea typeface="Cambria" pitchFamily="34" charset="-122"/>
                <a:cs typeface="Cambria" pitchFamily="34" charset="-120"/>
              </a:rPr>
              <a:t>To learn from great sources of wisdom</a:t>
            </a:r>
            <a:endParaRPr lang="en-US" sz="1700" dirty="0"/>
          </a:p>
        </p:txBody>
      </p:sp>
      <p:sp>
        <p:nvSpPr>
          <p:cNvPr id="18" name="Text 16"/>
          <p:cNvSpPr/>
          <p:nvPr/>
        </p:nvSpPr>
        <p:spPr>
          <a:xfrm>
            <a:off x="8394192" y="3703320"/>
            <a:ext cx="3017520" cy="1600200"/>
          </a:xfrm>
          <a:prstGeom prst="rect">
            <a:avLst/>
          </a:prstGeom>
          <a:noFill/>
          <a:ln/>
        </p:spPr>
        <p:txBody>
          <a:bodyPr wrap="square" lIns="0" tIns="0" rIns="0" bIns="0" rtlCol="0" anchor="t"/>
          <a:lstStyle/>
          <a:p>
            <a:pPr indent="0" marL="0">
              <a:lnSpc>
                <a:spcPct val="108000"/>
              </a:lnSpc>
              <a:buNone/>
            </a:pPr>
            <a:r>
              <a:rPr lang="en-US" sz="1200" dirty="0">
                <a:solidFill>
                  <a:srgbClr val="20242E"/>
                </a:solidFill>
                <a:latin typeface="Calibri" pitchFamily="34" charset="0"/>
                <a:ea typeface="Calibri" pitchFamily="34" charset="-122"/>
                <a:cs typeface="Calibri" pitchFamily="34" charset="-120"/>
              </a:rPr>
              <a:t>The textbook invites us "to learn from some of the world's great sources of wisdom," and to gain better insight into human beings through understanding their religious activities.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10972800" cy="658368"/>
          </a:xfrm>
          <a:prstGeom prst="rect">
            <a:avLst/>
          </a:prstGeom>
          <a:noFill/>
          <a:ln/>
        </p:spPr>
        <p:txBody>
          <a:bodyPr wrap="square" lIns="0" tIns="0" rIns="0" bIns="0" rtlCol="0" anchor="ctr"/>
          <a:lstStyle/>
          <a:p>
            <a:pPr indent="0" marL="0">
              <a:buNone/>
            </a:pPr>
            <a:r>
              <a:rPr lang="en-US" sz="2300" b="1" dirty="0">
                <a:solidFill>
                  <a:srgbClr val="1E2761"/>
                </a:solidFill>
                <a:latin typeface="Cambria" pitchFamily="34" charset="0"/>
                <a:ea typeface="Cambria" pitchFamily="34" charset="-122"/>
                <a:cs typeface="Cambria" pitchFamily="34" charset="-120"/>
              </a:rPr>
              <a:t>Part 2: Why Christians Should Engage in Interreligious Dialogue</a:t>
            </a:r>
            <a:endParaRPr lang="en-US" sz="2300" dirty="0"/>
          </a:p>
        </p:txBody>
      </p:sp>
      <p:sp>
        <p:nvSpPr>
          <p:cNvPr id="3" name="Text 1"/>
          <p:cNvSpPr/>
          <p:nvPr/>
        </p:nvSpPr>
        <p:spPr>
          <a:xfrm>
            <a:off x="640080" y="1042416"/>
            <a:ext cx="10972800" cy="310896"/>
          </a:xfrm>
          <a:prstGeom prst="rect">
            <a:avLst/>
          </a:prstGeom>
          <a:noFill/>
          <a:ln/>
        </p:spPr>
        <p:txBody>
          <a:bodyPr wrap="square" lIns="0" tIns="0" rIns="0" bIns="0" rtlCol="0" anchor="ctr"/>
          <a:lstStyle/>
          <a:p>
            <a:pPr indent="0" marL="0">
              <a:buNone/>
            </a:pPr>
            <a:r>
              <a:rPr lang="en-US" sz="1350" i="1" dirty="0">
                <a:solidFill>
                  <a:srgbClr val="5B6274"/>
                </a:solidFill>
                <a:latin typeface="Calibri" pitchFamily="34" charset="0"/>
                <a:ea typeface="Calibri" pitchFamily="34" charset="-122"/>
                <a:cs typeface="Calibri" pitchFamily="34" charset="-120"/>
              </a:rPr>
              <a:t>Chapter 1: interreligious dialogue is the duty of all Catholics</a:t>
            </a:r>
            <a:endParaRPr lang="en-US" sz="1350" dirty="0"/>
          </a:p>
        </p:txBody>
      </p:sp>
      <p:sp>
        <p:nvSpPr>
          <p:cNvPr id="4" name="Shape 2"/>
          <p:cNvSpPr/>
          <p:nvPr/>
        </p:nvSpPr>
        <p:spPr>
          <a:xfrm>
            <a:off x="548640" y="1600200"/>
            <a:ext cx="11064240" cy="1371600"/>
          </a:xfrm>
          <a:prstGeom prst="roundRect">
            <a:avLst>
              <a:gd name="adj" fmla="val 4000"/>
            </a:avLst>
          </a:prstGeom>
          <a:solidFill>
            <a:srgbClr val="F0F2F8"/>
          </a:solidFill>
          <a:ln w="12700">
            <a:solidFill>
              <a:srgbClr val="F0F2F8"/>
            </a:solidFill>
            <a:prstDash val="solid"/>
          </a:ln>
          <a:effectLst>
            <a:outerShdw sx="100000" sy="100000" kx="0" ky="0" algn="bl" rotWithShape="0" blurRad="127000" dist="25400" dir="5400000">
              <a:srgbClr val="9AA1B5">
                <a:alpha val="30000"/>
              </a:srgbClr>
            </a:outerShdw>
          </a:effectLst>
        </p:spPr>
      </p:sp>
      <p:sp>
        <p:nvSpPr>
          <p:cNvPr id="5" name="Shape 3"/>
          <p:cNvSpPr/>
          <p:nvPr/>
        </p:nvSpPr>
        <p:spPr>
          <a:xfrm>
            <a:off x="822960" y="1892808"/>
            <a:ext cx="457200" cy="457200"/>
          </a:xfrm>
          <a:prstGeom prst="ellipse">
            <a:avLst/>
          </a:prstGeom>
          <a:solidFill>
            <a:srgbClr val="BF5637"/>
          </a:solidFill>
          <a:ln w="12700">
            <a:solidFill>
              <a:srgbClr val="BF5637"/>
            </a:solidFill>
            <a:prstDash val="solid"/>
          </a:ln>
        </p:spPr>
      </p:sp>
      <p:sp>
        <p:nvSpPr>
          <p:cNvPr id="6" name="Text 4"/>
          <p:cNvSpPr/>
          <p:nvPr/>
        </p:nvSpPr>
        <p:spPr>
          <a:xfrm>
            <a:off x="822960" y="189280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7" name="Text 5"/>
          <p:cNvSpPr/>
          <p:nvPr/>
        </p:nvSpPr>
        <p:spPr>
          <a:xfrm>
            <a:off x="1417320" y="1783080"/>
            <a:ext cx="9966960" cy="347472"/>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It belongs to the Church's mission of evangelization</a:t>
            </a:r>
            <a:endParaRPr lang="en-US" sz="1600" dirty="0"/>
          </a:p>
        </p:txBody>
      </p:sp>
      <p:sp>
        <p:nvSpPr>
          <p:cNvPr id="8" name="Text 6"/>
          <p:cNvSpPr/>
          <p:nvPr/>
        </p:nvSpPr>
        <p:spPr>
          <a:xfrm>
            <a:off x="1417320" y="2167128"/>
            <a:ext cx="9966960" cy="731520"/>
          </a:xfrm>
          <a:prstGeom prst="rect">
            <a:avLst/>
          </a:prstGeom>
          <a:noFill/>
          <a:ln/>
        </p:spPr>
        <p:txBody>
          <a:bodyPr wrap="square" lIns="0" tIns="0" rIns="0" bIns="0" rtlCol="0" anchor="t"/>
          <a:lstStyle/>
          <a:p>
            <a:pPr indent="0" marL="0">
              <a:lnSpc>
                <a:spcPct val="105000"/>
              </a:lnSpc>
              <a:buNone/>
            </a:pPr>
            <a:r>
              <a:rPr lang="en-US" sz="1200" dirty="0">
                <a:solidFill>
                  <a:srgbClr val="20242E"/>
                </a:solidFill>
                <a:latin typeface="Calibri" pitchFamily="34" charset="0"/>
                <a:ea typeface="Calibri" pitchFamily="34" charset="-122"/>
                <a:cs typeface="Calibri" pitchFamily="34" charset="-120"/>
              </a:rPr>
              <a:t>All baptized Catholics are called to share the Gospel of Jesus Christ with the world (CCC, 849), and the Church is clear that there is no conflict between dialogue and proclamation. In dialogue, Catholics evangelize by witnessing to their faith without trying to get people to change their religious allegiance.</a:t>
            </a:r>
            <a:endParaRPr lang="en-US" sz="1200" dirty="0"/>
          </a:p>
        </p:txBody>
      </p:sp>
      <p:sp>
        <p:nvSpPr>
          <p:cNvPr id="9" name="Shape 7"/>
          <p:cNvSpPr/>
          <p:nvPr/>
        </p:nvSpPr>
        <p:spPr>
          <a:xfrm>
            <a:off x="548640" y="3108960"/>
            <a:ext cx="11064240" cy="1371600"/>
          </a:xfrm>
          <a:prstGeom prst="roundRect">
            <a:avLst>
              <a:gd name="adj" fmla="val 4000"/>
            </a:avLst>
          </a:prstGeom>
          <a:solidFill>
            <a:srgbClr val="F0F2F8"/>
          </a:solidFill>
          <a:ln w="12700">
            <a:solidFill>
              <a:srgbClr val="F0F2F8"/>
            </a:solidFill>
            <a:prstDash val="solid"/>
          </a:ln>
          <a:effectLst>
            <a:outerShdw sx="100000" sy="100000" kx="0" ky="0" algn="bl" rotWithShape="0" blurRad="127000" dist="25400" dir="5400000">
              <a:srgbClr val="9AA1B5">
                <a:alpha val="30000"/>
              </a:srgbClr>
            </a:outerShdw>
          </a:effectLst>
        </p:spPr>
      </p:sp>
      <p:sp>
        <p:nvSpPr>
          <p:cNvPr id="10" name="Shape 8"/>
          <p:cNvSpPr/>
          <p:nvPr/>
        </p:nvSpPr>
        <p:spPr>
          <a:xfrm>
            <a:off x="822960" y="3401568"/>
            <a:ext cx="457200" cy="457200"/>
          </a:xfrm>
          <a:prstGeom prst="ellipse">
            <a:avLst/>
          </a:prstGeom>
          <a:solidFill>
            <a:srgbClr val="1C7293"/>
          </a:solidFill>
          <a:ln w="12700">
            <a:solidFill>
              <a:srgbClr val="1C7293"/>
            </a:solidFill>
            <a:prstDash val="solid"/>
          </a:ln>
        </p:spPr>
      </p:sp>
      <p:sp>
        <p:nvSpPr>
          <p:cNvPr id="11" name="Text 9"/>
          <p:cNvSpPr/>
          <p:nvPr/>
        </p:nvSpPr>
        <p:spPr>
          <a:xfrm>
            <a:off x="822960" y="34015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2" name="Text 10"/>
          <p:cNvSpPr/>
          <p:nvPr/>
        </p:nvSpPr>
        <p:spPr>
          <a:xfrm>
            <a:off x="1417320" y="3291840"/>
            <a:ext cx="9966960" cy="347472"/>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The Church formally asks Catholics to do it</a:t>
            </a:r>
            <a:endParaRPr lang="en-US" sz="1600" dirty="0"/>
          </a:p>
        </p:txBody>
      </p:sp>
      <p:sp>
        <p:nvSpPr>
          <p:cNvPr id="13" name="Text 11"/>
          <p:cNvSpPr/>
          <p:nvPr/>
        </p:nvSpPr>
        <p:spPr>
          <a:xfrm>
            <a:off x="1417320" y="3675888"/>
            <a:ext cx="9966960" cy="731520"/>
          </a:xfrm>
          <a:prstGeom prst="rect">
            <a:avLst/>
          </a:prstGeom>
          <a:noFill/>
          <a:ln/>
        </p:spPr>
        <p:txBody>
          <a:bodyPr wrap="square" lIns="0" tIns="0" rIns="0" bIns="0" rtlCol="0" anchor="t"/>
          <a:lstStyle/>
          <a:p>
            <a:pPr indent="0" marL="0">
              <a:lnSpc>
                <a:spcPct val="105000"/>
              </a:lnSpc>
              <a:buNone/>
            </a:pPr>
            <a:r>
              <a:rPr lang="en-US" sz="1200" dirty="0">
                <a:solidFill>
                  <a:srgbClr val="20242E"/>
                </a:solidFill>
                <a:latin typeface="Calibri" pitchFamily="34" charset="0"/>
                <a:ea typeface="Calibri" pitchFamily="34" charset="-122"/>
                <a:cs typeface="Calibri" pitchFamily="34" charset="-120"/>
              </a:rPr>
              <a:t>Nostra Aetate states that the Catholic Church "rejects nothing that is true and holy in these religions." God offers salvation to all nations, and the Holy Spirit works outside the visible limits of the Church, so people in every part of the world seek to adore God in an authentic way.</a:t>
            </a:r>
            <a:endParaRPr lang="en-US" sz="1200" dirty="0"/>
          </a:p>
        </p:txBody>
      </p:sp>
      <p:sp>
        <p:nvSpPr>
          <p:cNvPr id="14" name="Shape 12"/>
          <p:cNvSpPr/>
          <p:nvPr/>
        </p:nvSpPr>
        <p:spPr>
          <a:xfrm>
            <a:off x="548640" y="4617720"/>
            <a:ext cx="11064240" cy="1371600"/>
          </a:xfrm>
          <a:prstGeom prst="roundRect">
            <a:avLst>
              <a:gd name="adj" fmla="val 4000"/>
            </a:avLst>
          </a:prstGeom>
          <a:solidFill>
            <a:srgbClr val="F0F2F8"/>
          </a:solidFill>
          <a:ln w="12700">
            <a:solidFill>
              <a:srgbClr val="F0F2F8"/>
            </a:solidFill>
            <a:prstDash val="solid"/>
          </a:ln>
          <a:effectLst>
            <a:outerShdw sx="100000" sy="100000" kx="0" ky="0" algn="bl" rotWithShape="0" blurRad="127000" dist="25400" dir="5400000">
              <a:srgbClr val="9AA1B5">
                <a:alpha val="30000"/>
              </a:srgbClr>
            </a:outerShdw>
          </a:effectLst>
        </p:spPr>
      </p:sp>
      <p:sp>
        <p:nvSpPr>
          <p:cNvPr id="15" name="Shape 13"/>
          <p:cNvSpPr/>
          <p:nvPr/>
        </p:nvSpPr>
        <p:spPr>
          <a:xfrm>
            <a:off x="822960" y="4910328"/>
            <a:ext cx="457200" cy="457200"/>
          </a:xfrm>
          <a:prstGeom prst="ellipse">
            <a:avLst/>
          </a:prstGeom>
          <a:solidFill>
            <a:srgbClr val="C69A3E"/>
          </a:solidFill>
          <a:ln w="12700">
            <a:solidFill>
              <a:srgbClr val="C69A3E"/>
            </a:solidFill>
            <a:prstDash val="solid"/>
          </a:ln>
        </p:spPr>
      </p:sp>
      <p:sp>
        <p:nvSpPr>
          <p:cNvPr id="16" name="Text 14"/>
          <p:cNvSpPr/>
          <p:nvPr/>
        </p:nvSpPr>
        <p:spPr>
          <a:xfrm>
            <a:off x="822960" y="49103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7" name="Text 15"/>
          <p:cNvSpPr/>
          <p:nvPr/>
        </p:nvSpPr>
        <p:spPr>
          <a:xfrm>
            <a:off x="1417320" y="4800600"/>
            <a:ext cx="9966960" cy="347472"/>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Dialogue enriches and purifies both sides</a:t>
            </a:r>
            <a:endParaRPr lang="en-US" sz="1600" dirty="0"/>
          </a:p>
        </p:txBody>
      </p:sp>
      <p:sp>
        <p:nvSpPr>
          <p:cNvPr id="18" name="Text 16"/>
          <p:cNvSpPr/>
          <p:nvPr/>
        </p:nvSpPr>
        <p:spPr>
          <a:xfrm>
            <a:off x="1417320" y="5184648"/>
            <a:ext cx="9966960" cy="731520"/>
          </a:xfrm>
          <a:prstGeom prst="rect">
            <a:avLst/>
          </a:prstGeom>
          <a:noFill/>
          <a:ln/>
        </p:spPr>
        <p:txBody>
          <a:bodyPr wrap="square" lIns="0" tIns="0" rIns="0" bIns="0" rtlCol="0" anchor="t"/>
          <a:lstStyle/>
          <a:p>
            <a:pPr indent="0" marL="0">
              <a:lnSpc>
                <a:spcPct val="105000"/>
              </a:lnSpc>
              <a:buNone/>
            </a:pPr>
            <a:r>
              <a:rPr lang="en-US" sz="1200" dirty="0">
                <a:solidFill>
                  <a:srgbClr val="20242E"/>
                </a:solidFill>
                <a:latin typeface="Calibri" pitchFamily="34" charset="0"/>
                <a:ea typeface="Calibri" pitchFamily="34" charset="-122"/>
                <a:cs typeface="Calibri" pitchFamily="34" charset="-120"/>
              </a:rPr>
              <a:t>Pope John Paul II wrote that dialogue enriches each side, eliminates prejudice, intolerance, and misunderstandings, and "leads to inner purification and conversion which, if pursued with docility to the Holy Spirit, will be spiritually fruitful" (Redemptoris Missio, 56).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10972800" cy="658368"/>
          </a:xfrm>
          <a:prstGeom prst="rect">
            <a:avLst/>
          </a:prstGeom>
          <a:noFill/>
          <a:ln/>
        </p:spPr>
        <p:txBody>
          <a:bodyPr wrap="square" lIns="0" tIns="0" rIns="0" bIns="0"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Part 2: Common Elements or Patterns of Religions</a:t>
            </a:r>
            <a:endParaRPr lang="en-US" sz="2800" dirty="0"/>
          </a:p>
        </p:txBody>
      </p:sp>
      <p:sp>
        <p:nvSpPr>
          <p:cNvPr id="3" name="Text 1"/>
          <p:cNvSpPr/>
          <p:nvPr/>
        </p:nvSpPr>
        <p:spPr>
          <a:xfrm>
            <a:off x="640080" y="1042416"/>
            <a:ext cx="10972800" cy="310896"/>
          </a:xfrm>
          <a:prstGeom prst="rect">
            <a:avLst/>
          </a:prstGeom>
          <a:noFill/>
          <a:ln/>
        </p:spPr>
        <p:txBody>
          <a:bodyPr wrap="square" lIns="0" tIns="0" rIns="0" bIns="0" rtlCol="0" anchor="ctr"/>
          <a:lstStyle/>
          <a:p>
            <a:pPr indent="0" marL="0">
              <a:buNone/>
            </a:pPr>
            <a:r>
              <a:rPr lang="en-US" sz="1350" i="1" dirty="0">
                <a:solidFill>
                  <a:srgbClr val="5B6274"/>
                </a:solidFill>
                <a:latin typeface="Calibri" pitchFamily="34" charset="0"/>
                <a:ea typeface="Calibri" pitchFamily="34" charset="-122"/>
                <a:cs typeface="Calibri" pitchFamily="34" charset="-120"/>
              </a:rPr>
              <a:t>The four patterns explained in Chapter 1</a:t>
            </a:r>
            <a:endParaRPr lang="en-US" sz="1350" dirty="0"/>
          </a:p>
        </p:txBody>
      </p:sp>
      <p:sp>
        <p:nvSpPr>
          <p:cNvPr id="4" name="Shape 2"/>
          <p:cNvSpPr/>
          <p:nvPr/>
        </p:nvSpPr>
        <p:spPr>
          <a:xfrm>
            <a:off x="548640" y="1572768"/>
            <a:ext cx="5440680" cy="2103120"/>
          </a:xfrm>
          <a:prstGeom prst="roundRect">
            <a:avLst>
              <a:gd name="adj" fmla="val 2609"/>
            </a:avLst>
          </a:prstGeom>
          <a:solidFill>
            <a:srgbClr val="F0F2F8"/>
          </a:solidFill>
          <a:ln w="12700">
            <a:solidFill>
              <a:srgbClr val="F0F2F8"/>
            </a:solidFill>
            <a:prstDash val="solid"/>
          </a:ln>
          <a:effectLst>
            <a:outerShdw sx="100000" sy="100000" kx="0" ky="0" algn="bl" rotWithShape="0" blurRad="127000" dist="25400" dir="5400000">
              <a:srgbClr val="9AA1B5">
                <a:alpha val="30000"/>
              </a:srgbClr>
            </a:outerShdw>
          </a:effectLst>
        </p:spPr>
      </p:sp>
      <p:sp>
        <p:nvSpPr>
          <p:cNvPr id="5" name="Shape 3"/>
          <p:cNvSpPr/>
          <p:nvPr/>
        </p:nvSpPr>
        <p:spPr>
          <a:xfrm>
            <a:off x="841248" y="1810512"/>
            <a:ext cx="457200" cy="457200"/>
          </a:xfrm>
          <a:prstGeom prst="ellipse">
            <a:avLst/>
          </a:prstGeom>
          <a:solidFill>
            <a:srgbClr val="BF5637"/>
          </a:solidFill>
          <a:ln w="12700">
            <a:solidFill>
              <a:srgbClr val="BF5637"/>
            </a:solidFill>
            <a:prstDash val="solid"/>
          </a:ln>
        </p:spPr>
      </p:sp>
      <p:sp>
        <p:nvSpPr>
          <p:cNvPr id="6" name="Text 4"/>
          <p:cNvSpPr/>
          <p:nvPr/>
        </p:nvSpPr>
        <p:spPr>
          <a:xfrm>
            <a:off x="841248" y="181051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a:t>
            </a:r>
            <a:endParaRPr lang="en-US" sz="1500" dirty="0"/>
          </a:p>
        </p:txBody>
      </p:sp>
      <p:sp>
        <p:nvSpPr>
          <p:cNvPr id="7" name="Text 5"/>
          <p:cNvSpPr/>
          <p:nvPr/>
        </p:nvSpPr>
        <p:spPr>
          <a:xfrm>
            <a:off x="1417320" y="1755648"/>
            <a:ext cx="4297680" cy="502920"/>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Sacred Stories and Sacred Scripture</a:t>
            </a:r>
            <a:endParaRPr lang="en-US" sz="1600" dirty="0"/>
          </a:p>
        </p:txBody>
      </p:sp>
      <p:sp>
        <p:nvSpPr>
          <p:cNvPr id="8" name="Text 6"/>
          <p:cNvSpPr/>
          <p:nvPr/>
        </p:nvSpPr>
        <p:spPr>
          <a:xfrm>
            <a:off x="841248" y="2350008"/>
            <a:ext cx="4892040" cy="1216152"/>
          </a:xfrm>
          <a:prstGeom prst="rect">
            <a:avLst/>
          </a:prstGeom>
          <a:noFill/>
          <a:ln/>
        </p:spPr>
        <p:txBody>
          <a:bodyPr wrap="square" lIns="0" tIns="0" rIns="0" bIns="0" rtlCol="0" anchor="t"/>
          <a:lstStyle/>
          <a:p>
            <a:pPr indent="0" marL="0">
              <a:lnSpc>
                <a:spcPct val="105000"/>
              </a:lnSpc>
              <a:buNone/>
            </a:pPr>
            <a:r>
              <a:rPr lang="en-US" sz="1100" dirty="0">
                <a:solidFill>
                  <a:srgbClr val="20242E"/>
                </a:solidFill>
                <a:latin typeface="Calibri" pitchFamily="34" charset="0"/>
                <a:ea typeface="Calibri" pitchFamily="34" charset="-122"/>
                <a:cs typeface="Calibri" pitchFamily="34" charset="-120"/>
              </a:rPr>
              <a:t>Traditions tell stories of how the world came to be and where we are going. The creation stories are commonly called myths, and core events such as the Exodus become sacred history. Passed on orally at first, these stories were written down as sacred scripture such as the Bible, the Qur'an, and the Bhagavad Gita.</a:t>
            </a:r>
            <a:endParaRPr lang="en-US" sz="1100" dirty="0"/>
          </a:p>
        </p:txBody>
      </p:sp>
      <p:sp>
        <p:nvSpPr>
          <p:cNvPr id="9" name="Shape 7"/>
          <p:cNvSpPr/>
          <p:nvPr/>
        </p:nvSpPr>
        <p:spPr>
          <a:xfrm>
            <a:off x="6172200" y="1572768"/>
            <a:ext cx="5440680" cy="2103120"/>
          </a:xfrm>
          <a:prstGeom prst="roundRect">
            <a:avLst>
              <a:gd name="adj" fmla="val 2609"/>
            </a:avLst>
          </a:prstGeom>
          <a:solidFill>
            <a:srgbClr val="F0F2F8"/>
          </a:solidFill>
          <a:ln w="12700">
            <a:solidFill>
              <a:srgbClr val="F0F2F8"/>
            </a:solidFill>
            <a:prstDash val="solid"/>
          </a:ln>
          <a:effectLst>
            <a:outerShdw sx="100000" sy="100000" kx="0" ky="0" algn="bl" rotWithShape="0" blurRad="127000" dist="25400" dir="5400000">
              <a:srgbClr val="9AA1B5">
                <a:alpha val="30000"/>
              </a:srgbClr>
            </a:outerShdw>
          </a:effectLst>
        </p:spPr>
      </p:sp>
      <p:sp>
        <p:nvSpPr>
          <p:cNvPr id="10" name="Shape 8"/>
          <p:cNvSpPr/>
          <p:nvPr/>
        </p:nvSpPr>
        <p:spPr>
          <a:xfrm>
            <a:off x="6464808" y="1810512"/>
            <a:ext cx="457200" cy="457200"/>
          </a:xfrm>
          <a:prstGeom prst="ellipse">
            <a:avLst/>
          </a:prstGeom>
          <a:solidFill>
            <a:srgbClr val="1C7293"/>
          </a:solidFill>
          <a:ln w="12700">
            <a:solidFill>
              <a:srgbClr val="1C7293"/>
            </a:solidFill>
            <a:prstDash val="solid"/>
          </a:ln>
        </p:spPr>
      </p:sp>
      <p:sp>
        <p:nvSpPr>
          <p:cNvPr id="11" name="Text 9"/>
          <p:cNvSpPr/>
          <p:nvPr/>
        </p:nvSpPr>
        <p:spPr>
          <a:xfrm>
            <a:off x="6464808" y="181051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b</a:t>
            </a:r>
            <a:endParaRPr lang="en-US" sz="1500" dirty="0"/>
          </a:p>
        </p:txBody>
      </p:sp>
      <p:sp>
        <p:nvSpPr>
          <p:cNvPr id="12" name="Text 10"/>
          <p:cNvSpPr/>
          <p:nvPr/>
        </p:nvSpPr>
        <p:spPr>
          <a:xfrm>
            <a:off x="7040880" y="1755648"/>
            <a:ext cx="4297680" cy="502920"/>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Beliefs and Practices</a:t>
            </a:r>
            <a:endParaRPr lang="en-US" sz="1600" dirty="0"/>
          </a:p>
        </p:txBody>
      </p:sp>
      <p:sp>
        <p:nvSpPr>
          <p:cNvPr id="13" name="Text 11"/>
          <p:cNvSpPr/>
          <p:nvPr/>
        </p:nvSpPr>
        <p:spPr>
          <a:xfrm>
            <a:off x="6464808" y="2350008"/>
            <a:ext cx="4892040" cy="1216152"/>
          </a:xfrm>
          <a:prstGeom prst="rect">
            <a:avLst/>
          </a:prstGeom>
          <a:noFill/>
          <a:ln/>
        </p:spPr>
        <p:txBody>
          <a:bodyPr wrap="square" lIns="0" tIns="0" rIns="0" bIns="0" rtlCol="0" anchor="t"/>
          <a:lstStyle/>
          <a:p>
            <a:pPr indent="0" marL="0">
              <a:lnSpc>
                <a:spcPct val="105000"/>
              </a:lnSpc>
              <a:buNone/>
            </a:pPr>
            <a:r>
              <a:rPr lang="en-US" sz="1100" dirty="0">
                <a:solidFill>
                  <a:srgbClr val="20242E"/>
                </a:solidFill>
                <a:latin typeface="Calibri" pitchFamily="34" charset="0"/>
                <a:ea typeface="Calibri" pitchFamily="34" charset="-122"/>
                <a:cs typeface="Calibri" pitchFamily="34" charset="-120"/>
              </a:rPr>
              <a:t>Each tradition holds certain truths that separate it from the others, such as the Apostles' Creed or the Four Noble Truths. Believers act those beliefs out in practices that may be personal, such as prayer, or communal, such as pilgrimage. Every tradition has a moral code, written or unwritten.</a:t>
            </a:r>
            <a:endParaRPr lang="en-US" sz="1100" dirty="0"/>
          </a:p>
        </p:txBody>
      </p:sp>
      <p:sp>
        <p:nvSpPr>
          <p:cNvPr id="14" name="Shape 12"/>
          <p:cNvSpPr/>
          <p:nvPr/>
        </p:nvSpPr>
        <p:spPr>
          <a:xfrm>
            <a:off x="548640" y="3813048"/>
            <a:ext cx="5440680" cy="2103120"/>
          </a:xfrm>
          <a:prstGeom prst="roundRect">
            <a:avLst>
              <a:gd name="adj" fmla="val 2609"/>
            </a:avLst>
          </a:prstGeom>
          <a:solidFill>
            <a:srgbClr val="F0F2F8"/>
          </a:solidFill>
          <a:ln w="12700">
            <a:solidFill>
              <a:srgbClr val="F0F2F8"/>
            </a:solidFill>
            <a:prstDash val="solid"/>
          </a:ln>
          <a:effectLst>
            <a:outerShdw sx="100000" sy="100000" kx="0" ky="0" algn="bl" rotWithShape="0" blurRad="127000" dist="25400" dir="5400000">
              <a:srgbClr val="9AA1B5">
                <a:alpha val="30000"/>
              </a:srgbClr>
            </a:outerShdw>
          </a:effectLst>
        </p:spPr>
      </p:sp>
      <p:sp>
        <p:nvSpPr>
          <p:cNvPr id="15" name="Shape 13"/>
          <p:cNvSpPr/>
          <p:nvPr/>
        </p:nvSpPr>
        <p:spPr>
          <a:xfrm>
            <a:off x="841248" y="4050792"/>
            <a:ext cx="457200" cy="457200"/>
          </a:xfrm>
          <a:prstGeom prst="ellipse">
            <a:avLst/>
          </a:prstGeom>
          <a:solidFill>
            <a:srgbClr val="C69A3E"/>
          </a:solidFill>
          <a:ln w="12700">
            <a:solidFill>
              <a:srgbClr val="C69A3E"/>
            </a:solidFill>
            <a:prstDash val="solid"/>
          </a:ln>
        </p:spPr>
      </p:sp>
      <p:sp>
        <p:nvSpPr>
          <p:cNvPr id="16" name="Text 14"/>
          <p:cNvSpPr/>
          <p:nvPr/>
        </p:nvSpPr>
        <p:spPr>
          <a:xfrm>
            <a:off x="841248" y="405079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c</a:t>
            </a:r>
            <a:endParaRPr lang="en-US" sz="1500" dirty="0"/>
          </a:p>
        </p:txBody>
      </p:sp>
      <p:sp>
        <p:nvSpPr>
          <p:cNvPr id="17" name="Text 15"/>
          <p:cNvSpPr/>
          <p:nvPr/>
        </p:nvSpPr>
        <p:spPr>
          <a:xfrm>
            <a:off x="1417320" y="3995928"/>
            <a:ext cx="4297680" cy="502920"/>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Sacred Time</a:t>
            </a:r>
            <a:endParaRPr lang="en-US" sz="1600" dirty="0"/>
          </a:p>
        </p:txBody>
      </p:sp>
      <p:sp>
        <p:nvSpPr>
          <p:cNvPr id="18" name="Text 16"/>
          <p:cNvSpPr/>
          <p:nvPr/>
        </p:nvSpPr>
        <p:spPr>
          <a:xfrm>
            <a:off x="841248" y="4590288"/>
            <a:ext cx="4892040" cy="1216152"/>
          </a:xfrm>
          <a:prstGeom prst="rect">
            <a:avLst/>
          </a:prstGeom>
          <a:noFill/>
          <a:ln/>
        </p:spPr>
        <p:txBody>
          <a:bodyPr wrap="square" lIns="0" tIns="0" rIns="0" bIns="0" rtlCol="0" anchor="t"/>
          <a:lstStyle/>
          <a:p>
            <a:pPr indent="0" marL="0">
              <a:lnSpc>
                <a:spcPct val="105000"/>
              </a:lnSpc>
              <a:buNone/>
            </a:pPr>
            <a:r>
              <a:rPr lang="en-US" sz="1100" dirty="0">
                <a:solidFill>
                  <a:srgbClr val="20242E"/>
                </a:solidFill>
                <a:latin typeface="Calibri" pitchFamily="34" charset="0"/>
                <a:ea typeface="Calibri" pitchFamily="34" charset="-122"/>
                <a:cs typeface="Calibri" pitchFamily="34" charset="-120"/>
              </a:rPr>
              <a:t>Most traditions consider all time sacred but mark particular times: Friday for Muslims, Saturday for Jews, and Sunday for Christians; annual fasts such as Ramadan, Yom Kippur, and Lent; festivals such as Diwali and Bodhi Day; and rites of passage such as birth, marriage, and death.</a:t>
            </a:r>
            <a:endParaRPr lang="en-US" sz="1100" dirty="0"/>
          </a:p>
        </p:txBody>
      </p:sp>
      <p:sp>
        <p:nvSpPr>
          <p:cNvPr id="19" name="Shape 17"/>
          <p:cNvSpPr/>
          <p:nvPr/>
        </p:nvSpPr>
        <p:spPr>
          <a:xfrm>
            <a:off x="6172200" y="3813048"/>
            <a:ext cx="5440680" cy="2103120"/>
          </a:xfrm>
          <a:prstGeom prst="roundRect">
            <a:avLst>
              <a:gd name="adj" fmla="val 2609"/>
            </a:avLst>
          </a:prstGeom>
          <a:solidFill>
            <a:srgbClr val="F0F2F8"/>
          </a:solidFill>
          <a:ln w="12700">
            <a:solidFill>
              <a:srgbClr val="F0F2F8"/>
            </a:solidFill>
            <a:prstDash val="solid"/>
          </a:ln>
          <a:effectLst>
            <a:outerShdw sx="100000" sy="100000" kx="0" ky="0" algn="bl" rotWithShape="0" blurRad="127000" dist="25400" dir="5400000">
              <a:srgbClr val="9AA1B5">
                <a:alpha val="30000"/>
              </a:srgbClr>
            </a:outerShdw>
          </a:effectLst>
        </p:spPr>
      </p:sp>
      <p:sp>
        <p:nvSpPr>
          <p:cNvPr id="20" name="Shape 18"/>
          <p:cNvSpPr/>
          <p:nvPr/>
        </p:nvSpPr>
        <p:spPr>
          <a:xfrm>
            <a:off x="6464808" y="4050792"/>
            <a:ext cx="457200" cy="457200"/>
          </a:xfrm>
          <a:prstGeom prst="ellipse">
            <a:avLst/>
          </a:prstGeom>
          <a:solidFill>
            <a:srgbClr val="6B4A9E"/>
          </a:solidFill>
          <a:ln w="12700">
            <a:solidFill>
              <a:srgbClr val="6B4A9E"/>
            </a:solidFill>
            <a:prstDash val="solid"/>
          </a:ln>
        </p:spPr>
      </p:sp>
      <p:sp>
        <p:nvSpPr>
          <p:cNvPr id="21" name="Text 19"/>
          <p:cNvSpPr/>
          <p:nvPr/>
        </p:nvSpPr>
        <p:spPr>
          <a:xfrm>
            <a:off x="6464808" y="405079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d</a:t>
            </a:r>
            <a:endParaRPr lang="en-US" sz="1500" dirty="0"/>
          </a:p>
        </p:txBody>
      </p:sp>
      <p:sp>
        <p:nvSpPr>
          <p:cNvPr id="22" name="Text 20"/>
          <p:cNvSpPr/>
          <p:nvPr/>
        </p:nvSpPr>
        <p:spPr>
          <a:xfrm>
            <a:off x="7040880" y="3995928"/>
            <a:ext cx="4297680" cy="502920"/>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Sacred Places and Sacred Spaces</a:t>
            </a:r>
            <a:endParaRPr lang="en-US" sz="1600" dirty="0"/>
          </a:p>
        </p:txBody>
      </p:sp>
      <p:sp>
        <p:nvSpPr>
          <p:cNvPr id="23" name="Text 21"/>
          <p:cNvSpPr/>
          <p:nvPr/>
        </p:nvSpPr>
        <p:spPr>
          <a:xfrm>
            <a:off x="6464808" y="4590288"/>
            <a:ext cx="4892040" cy="1216152"/>
          </a:xfrm>
          <a:prstGeom prst="rect">
            <a:avLst/>
          </a:prstGeom>
          <a:noFill/>
          <a:ln/>
        </p:spPr>
        <p:txBody>
          <a:bodyPr wrap="square" lIns="0" tIns="0" rIns="0" bIns="0" rtlCol="0" anchor="t"/>
          <a:lstStyle/>
          <a:p>
            <a:pPr indent="0" marL="0">
              <a:lnSpc>
                <a:spcPct val="105000"/>
              </a:lnSpc>
              <a:buNone/>
            </a:pPr>
            <a:r>
              <a:rPr lang="en-US" sz="1100" dirty="0">
                <a:solidFill>
                  <a:srgbClr val="20242E"/>
                </a:solidFill>
                <a:latin typeface="Calibri" pitchFamily="34" charset="0"/>
                <a:ea typeface="Calibri" pitchFamily="34" charset="-122"/>
                <a:cs typeface="Calibri" pitchFamily="34" charset="-120"/>
              </a:rPr>
              <a:t>Places where a tradition began or its founder traveled become sacred, such as Mecca for Muslims and the Holy Land for Christians. Places in nature can be sacred, such as the Ganges and Mount Sinai. Churches, mosques, temples, and synagogues are sacred spaces, and a gym or tent can become a temporary one.</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the Study of the World's Religions</dc:title>
  <dc:subject>PptxGenJS Presentation</dc:subject>
  <dc:creator>PptxGenJS</dc:creator>
  <cp:lastModifiedBy>PptxGenJS</cp:lastModifiedBy>
  <cp:revision>1</cp:revision>
  <dcterms:created xsi:type="dcterms:W3CDTF">2026-08-18T12:41:32Z</dcterms:created>
  <dcterms:modified xsi:type="dcterms:W3CDTF">2026-08-18T12:41:32Z</dcterms:modified>
</cp:coreProperties>
</file>